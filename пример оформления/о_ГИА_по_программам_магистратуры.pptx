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75" r:id="rId7"/>
    <p:sldId id="274" r:id="rId8"/>
    <p:sldId id="262" r:id="rId9"/>
    <p:sldId id="271" r:id="rId10"/>
    <p:sldId id="264" r:id="rId11"/>
    <p:sldId id="266" r:id="rId12"/>
    <p:sldId id="267" r:id="rId13"/>
    <p:sldId id="268" r:id="rId14"/>
  </p:sldIdLst>
  <p:sldSz cx="9144000" cy="6858000" type="screen4x3"/>
  <p:notesSz cx="7102475" cy="102346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4" autoAdjust="0"/>
    <p:restoredTop sz="94660"/>
  </p:normalViewPr>
  <p:slideViewPr>
    <p:cSldViewPr>
      <p:cViewPr varScale="1">
        <p:scale>
          <a:sx n="107" d="100"/>
          <a:sy n="107" d="100"/>
        </p:scale>
        <p:origin x="1285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sovxoz.com/otechestvennye-kombinirovannye-pochvoobrabatyvayushhie-agregaty/#mor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99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Нормативные ссылки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74" y="371328"/>
            <a:ext cx="91440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1338" algn="just">
              <a:spcAft>
                <a:spcPts val="600"/>
              </a:spcAft>
            </a:pPr>
            <a:r>
              <a:rPr lang="ru-RU" sz="1600" dirty="0"/>
              <a:t>- Федеральный закон «</a:t>
            </a:r>
            <a:r>
              <a:rPr lang="ru-RU" sz="1600" b="1" dirty="0"/>
              <a:t>Об образовании в Российской Федерации</a:t>
            </a:r>
            <a:r>
              <a:rPr lang="ru-RU" sz="1600" dirty="0"/>
              <a:t>» от 29 декабря 2012 года </a:t>
            </a:r>
            <a:r>
              <a:rPr lang="ru-RU" sz="1600" b="1" dirty="0"/>
              <a:t>№273-ФЗ </a:t>
            </a:r>
            <a:r>
              <a:rPr lang="ru-RU" sz="1600" dirty="0"/>
              <a:t>(Собрание законодательства Российской Федерации, 2012, № 53, ст. 7598); </a:t>
            </a:r>
          </a:p>
          <a:p>
            <a:pPr indent="541338" algn="just">
              <a:spcAft>
                <a:spcPts val="600"/>
              </a:spcAft>
            </a:pPr>
            <a:r>
              <a:rPr lang="ru-RU" sz="1600" dirty="0"/>
              <a:t>- Приказ Министерства образования и науки Российской Федерации от 05.04.2017 </a:t>
            </a:r>
            <a:r>
              <a:rPr lang="ru-RU" sz="1600" b="1" dirty="0"/>
              <a:t>№301</a:t>
            </a:r>
            <a:r>
              <a:rPr lang="ru-RU" sz="1600" dirty="0"/>
              <a:t> </a:t>
            </a:r>
            <a:r>
              <a:rPr lang="ru-RU" sz="1600" b="1" dirty="0"/>
              <a:t>«Об утверждении Порядка организации и осуществления образовательной деятельности по образовательным программам высшего образования -программам </a:t>
            </a:r>
            <a:r>
              <a:rPr lang="ru-RU" sz="1600" b="1" dirty="0" err="1"/>
              <a:t>бакалавриата</a:t>
            </a:r>
            <a:r>
              <a:rPr lang="ru-RU" sz="1600" b="1" dirty="0"/>
              <a:t>, программам </a:t>
            </a:r>
            <a:r>
              <a:rPr lang="ru-RU" sz="1600" b="1" dirty="0" err="1"/>
              <a:t>специалитета</a:t>
            </a:r>
            <a:r>
              <a:rPr lang="ru-RU" sz="1600" b="1" dirty="0"/>
              <a:t>, программам магистратуры»</a:t>
            </a:r>
            <a:r>
              <a:rPr lang="ru-RU" sz="1600" dirty="0"/>
              <a:t>; </a:t>
            </a:r>
          </a:p>
          <a:p>
            <a:pPr indent="541338" algn="just">
              <a:spcAft>
                <a:spcPts val="600"/>
              </a:spcAft>
            </a:pPr>
            <a:r>
              <a:rPr lang="ru-RU" sz="1600" dirty="0"/>
              <a:t>- Приказ Министерства образования и науки Российской Федерации от 09 февраля 2016 года </a:t>
            </a:r>
            <a:r>
              <a:rPr lang="ru-RU" sz="1600" b="1" dirty="0"/>
              <a:t>№86 </a:t>
            </a:r>
            <a:r>
              <a:rPr lang="ru-RU" sz="1600" dirty="0"/>
              <a:t>«</a:t>
            </a:r>
            <a:r>
              <a:rPr lang="ru-RU" sz="1600" b="1" dirty="0"/>
              <a:t>О внесении изменений в Порядок проведения государственной итоговой аттестации по образовательным программам высшего образования – программам бакалавриата, программам </a:t>
            </a:r>
            <a:r>
              <a:rPr lang="ru-RU" sz="1600" b="1" dirty="0" err="1"/>
              <a:t>специалитета</a:t>
            </a:r>
            <a:r>
              <a:rPr lang="ru-RU" sz="1600" b="1" dirty="0"/>
              <a:t> и программам магистратуры</a:t>
            </a:r>
            <a:r>
              <a:rPr lang="ru-RU" sz="1600" dirty="0"/>
              <a:t>», утвержденный приказом Министерства образования и науки Российской Федерации от 29 июня 2015 года </a:t>
            </a:r>
            <a:r>
              <a:rPr lang="ru-RU" sz="1600" b="1" dirty="0"/>
              <a:t>№636</a:t>
            </a:r>
            <a:r>
              <a:rPr lang="ru-RU" sz="1600" dirty="0"/>
              <a:t>»; </a:t>
            </a:r>
          </a:p>
          <a:p>
            <a:pPr indent="541338" algn="just">
              <a:spcAft>
                <a:spcPts val="600"/>
              </a:spcAft>
            </a:pPr>
            <a:r>
              <a:rPr lang="ru-RU" sz="1600" dirty="0"/>
              <a:t>- </a:t>
            </a:r>
            <a:r>
              <a:rPr lang="ru-RU" sz="1600" b="1" dirty="0"/>
              <a:t>Федеральные государственные образовательные стандарты высшего образования</a:t>
            </a:r>
            <a:r>
              <a:rPr lang="ru-RU" sz="1600" dirty="0"/>
              <a:t>;</a:t>
            </a:r>
          </a:p>
          <a:p>
            <a:pPr indent="541338" algn="just">
              <a:spcAft>
                <a:spcPts val="600"/>
              </a:spcAft>
            </a:pPr>
            <a:r>
              <a:rPr lang="ru-RU" sz="1600" dirty="0"/>
              <a:t>- </a:t>
            </a:r>
            <a:r>
              <a:rPr lang="ru-RU" sz="1600" b="1" cap="all" dirty="0"/>
              <a:t>Положение</a:t>
            </a:r>
            <a:r>
              <a:rPr lang="ru-RU" sz="1600" b="1" dirty="0"/>
              <a:t> о государственной итоговой аттестации по программам бакалавриата и программам магистратуры</a:t>
            </a:r>
            <a:r>
              <a:rPr lang="ru-RU" sz="1600" dirty="0"/>
              <a:t> (утверждено Ученым советом ФГБОУ ВО СПбГАУ 05.04.2016, протокол №4)*;</a:t>
            </a:r>
          </a:p>
          <a:p>
            <a:pPr indent="541338" algn="just">
              <a:spcAft>
                <a:spcPts val="600"/>
              </a:spcAft>
            </a:pPr>
            <a:r>
              <a:rPr lang="ru-RU" sz="1600" dirty="0"/>
              <a:t>- </a:t>
            </a:r>
            <a:r>
              <a:rPr lang="ru-RU" sz="1600" b="1" dirty="0"/>
              <a:t>ПРАВИЛА оформления и общие требования к текстовым документам </a:t>
            </a:r>
            <a:r>
              <a:rPr lang="ru-RU" sz="1600" dirty="0"/>
              <a:t>(утверждено Ученым советом ФГБОУ ВО СПбГАУ 01.07.2014, протокол №7)**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0438" y="5042359"/>
            <a:ext cx="8749338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 ПОЛОЖЕНИЕ регулирует проведение ГИА по программам бакалавриата и программам магистратуры в СПбГАУ вне зависимости от форм получения высшего образования и форм обучения.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** Требования ПОЛОЖЕНИЯ и ПРАВИЛ обязательны к применению всеми структурными подразделениями СПбГАУ, должностными лицами, сотрудниками, обучающимися. </a:t>
            </a:r>
          </a:p>
          <a:p>
            <a:pPr indent="450850" algn="just"/>
            <a:r>
              <a:rPr lang="ru-RU" sz="15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!!! </a:t>
            </a:r>
            <a:r>
              <a:rPr lang="ru-RU" sz="1500" b="1" i="1" dirty="0">
                <a:solidFill>
                  <a:srgbClr val="FF0000"/>
                </a:solidFill>
              </a:rPr>
              <a:t> </a:t>
            </a:r>
            <a:r>
              <a:rPr lang="ru-RU" sz="16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Декан ФТССЭ несет ответственность за организацию процесса подготовки</a:t>
            </a:r>
          </a:p>
          <a:p>
            <a:pPr indent="450850" algn="just"/>
            <a:r>
              <a:rPr lang="ru-RU" sz="16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и защиты ВКР в соответствии с утверждёнными требованиям</a:t>
            </a:r>
            <a:r>
              <a:rPr lang="ru-RU" sz="1600" b="1" i="1" dirty="0">
                <a:solidFill>
                  <a:srgbClr val="0070C0"/>
                </a:solidFill>
              </a:rPr>
              <a:t> </a:t>
            </a:r>
            <a:r>
              <a:rPr lang="ru-RU" sz="15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ru-RU" sz="1600" b="1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153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ОБЩИЕ Требования к выпускной квалификационной работе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520217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1338" algn="just"/>
            <a:r>
              <a:rPr lang="ru-RU" b="1" dirty="0"/>
              <a:t>ВКР представляется в виде, который позволяет судить о том, насколько полно отражены и обоснованы содержащиеся в ней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положения</a:t>
            </a:r>
            <a:r>
              <a:rPr lang="ru-RU" b="1" dirty="0"/>
              <a:t>,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выводы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/>
              <a:t>и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рекомендации</a:t>
            </a:r>
            <a:r>
              <a:rPr lang="ru-RU" b="1" dirty="0"/>
              <a:t>, их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новизна</a:t>
            </a:r>
            <a:r>
              <a:rPr lang="ru-RU" b="1" dirty="0"/>
              <a:t>,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актуальность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/>
              <a:t>и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значимость</a:t>
            </a:r>
            <a:r>
              <a:rPr lang="ru-RU" b="1" dirty="0"/>
              <a:t>. Результаты ВКР должны свидетельствовать о наличии у ее автора соответствующих компетенций в соответствии с видами профессиональной деятельности.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5020" y="2204864"/>
            <a:ext cx="914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41338" algn="just"/>
            <a:r>
              <a:rPr lang="ru-RU" b="1" dirty="0"/>
              <a:t>Тематика ВКР должна быть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актуальной</a:t>
            </a:r>
            <a:r>
              <a:rPr lang="ru-RU" b="1" dirty="0"/>
              <a:t>,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строго соответствовать направлению и профилю (направленности) подготовки</a:t>
            </a:r>
            <a:r>
              <a:rPr lang="ru-RU" b="1" dirty="0"/>
              <a:t>, 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современному состоянию и перспективам развития изучаемой предметной области и производства</a:t>
            </a:r>
            <a:r>
              <a:rPr lang="ru-RU" b="1" dirty="0"/>
              <a:t>, а также обеспечивать обучающемуся возможность проявления элементов самостоятельной научно-исследовательской работы, творчества в расчетно-конструкторской и технологической проработках, а также соответствовать научно-исследовательской деятельности по профилю подготовки.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-15020" y="4365104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1338" algn="just"/>
            <a:r>
              <a:rPr lang="ru-RU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!!!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dirty="0">
                <a:solidFill>
                  <a:srgbClr val="FF0000"/>
                </a:solidFill>
              </a:rPr>
              <a:t>Научные исследования ВКР обучающихся по </a:t>
            </a:r>
            <a:r>
              <a:rPr lang="ru-RU" b="1" u="sng" dirty="0">
                <a:solidFill>
                  <a:srgbClr val="FF0000"/>
                </a:solidFill>
              </a:rPr>
              <a:t>ОП магистратуры</a:t>
            </a:r>
            <a:r>
              <a:rPr lang="ru-RU" b="1" dirty="0">
                <a:solidFill>
                  <a:srgbClr val="FF0000"/>
                </a:solidFill>
              </a:rPr>
              <a:t> должны соответствовать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плану научно-исследовательской работы СПбГАУ</a:t>
            </a:r>
            <a:r>
              <a:rPr lang="ru-RU" b="1" dirty="0">
                <a:solidFill>
                  <a:srgbClr val="FF0000"/>
                </a:solidFill>
              </a:rPr>
              <a:t>, утверждаемому Ученым советом и ректором Университета.</a:t>
            </a:r>
          </a:p>
          <a:p>
            <a:pPr indent="541338" algn="just"/>
            <a:endParaRPr lang="ru-RU" sz="800" b="1" dirty="0">
              <a:solidFill>
                <a:srgbClr val="FF0000"/>
              </a:solidFill>
            </a:endParaRPr>
          </a:p>
          <a:p>
            <a:pPr indent="1073150" algn="just"/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Количество выпускников</a:t>
            </a:r>
            <a:r>
              <a:rPr lang="ru-RU" b="1" dirty="0">
                <a:solidFill>
                  <a:srgbClr val="FF0000"/>
                </a:solidFill>
              </a:rPr>
              <a:t> на каждого руководителя ВКР определяется его учебной нагрузкой, </a:t>
            </a:r>
            <a:r>
              <a:rPr lang="ru-RU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 не более 8 в год</a:t>
            </a:r>
            <a:r>
              <a:rPr lang="ru-RU" b="1" dirty="0">
                <a:solidFill>
                  <a:srgbClr val="FF0000"/>
                </a:solidFill>
              </a:rPr>
              <a:t>,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т. ч. обучающихся по ОП магистратуры – не более 5 в год</a:t>
            </a:r>
            <a:r>
              <a:rPr lang="ru-RU" b="1" dirty="0">
                <a:solidFill>
                  <a:srgbClr val="FF000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5177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Требования к выпускной квалификационной работе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3538" y="644016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Примерный </a:t>
            </a:r>
            <a:r>
              <a:rPr lang="ru-RU" sz="2000" b="1" u="sng" dirty="0">
                <a:solidFill>
                  <a:srgbClr val="FF0000"/>
                </a:solidFill>
              </a:rPr>
              <a:t>объем ВКР без приложений </a:t>
            </a:r>
            <a:r>
              <a:rPr lang="ru-RU" sz="2000" dirty="0"/>
              <a:t>составляет: </a:t>
            </a:r>
          </a:p>
          <a:p>
            <a:pPr indent="541338"/>
            <a:r>
              <a:rPr lang="ru-RU" sz="2000" dirty="0"/>
              <a:t>- для обучающихся </a:t>
            </a:r>
            <a:r>
              <a:rPr lang="ru-RU" sz="2000" b="1" dirty="0"/>
              <a:t>по ОП магистратуры </a:t>
            </a:r>
            <a:r>
              <a:rPr lang="ru-RU" sz="2000" dirty="0"/>
              <a:t>– </a:t>
            </a:r>
            <a:r>
              <a:rPr lang="ru-RU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70-100</a:t>
            </a:r>
            <a:r>
              <a:rPr lang="ru-RU" sz="2000" b="1" dirty="0">
                <a:solidFill>
                  <a:srgbClr val="FF0000"/>
                </a:solidFill>
              </a:rPr>
              <a:t> страниц печатного текста</a:t>
            </a:r>
            <a:r>
              <a:rPr lang="ru-RU" sz="2000" dirty="0"/>
              <a:t>.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1720840"/>
            <a:ext cx="914400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1338" algn="just"/>
            <a:r>
              <a:rPr lang="ru-RU" b="1" dirty="0"/>
              <a:t>ВКР обучающихся должна состоять из следующих обязательных структурных элементов, расположенных в следующем порядке:</a:t>
            </a:r>
          </a:p>
          <a:p>
            <a:endParaRPr lang="ru-RU" dirty="0"/>
          </a:p>
          <a:p>
            <a:pPr marL="1255713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ru-RU" b="1" cap="all" dirty="0"/>
              <a:t>титульный лист</a:t>
            </a:r>
            <a:r>
              <a:rPr lang="ru-RU" dirty="0"/>
              <a:t>; </a:t>
            </a:r>
          </a:p>
          <a:p>
            <a:pPr marL="1255713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ru-RU" b="1" i="1" u="sng" cap="all" dirty="0"/>
              <a:t>содержание</a:t>
            </a:r>
            <a:r>
              <a:rPr lang="ru-RU" dirty="0"/>
              <a:t> с указанием номеров страниц; </a:t>
            </a:r>
          </a:p>
          <a:p>
            <a:pPr marL="1255713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ru-RU" b="1" cap="all" dirty="0"/>
              <a:t>введение</a:t>
            </a:r>
            <a:r>
              <a:rPr lang="ru-RU" dirty="0"/>
              <a:t>; </a:t>
            </a:r>
          </a:p>
          <a:p>
            <a:pPr marL="1255713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ru-RU" b="1" i="1" cap="all" dirty="0"/>
              <a:t>основная часть</a:t>
            </a:r>
            <a:r>
              <a:rPr lang="ru-RU" dirty="0"/>
              <a:t>; </a:t>
            </a:r>
          </a:p>
          <a:p>
            <a:pPr marL="1255713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ru-RU" b="1" cap="all" dirty="0"/>
              <a:t>заключение</a:t>
            </a:r>
            <a:r>
              <a:rPr lang="ru-RU" dirty="0"/>
              <a:t>; </a:t>
            </a:r>
          </a:p>
          <a:p>
            <a:pPr marL="1255713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ru-RU" b="1" i="1" u="sng" cap="all" dirty="0"/>
              <a:t>список  использованных  источников</a:t>
            </a:r>
            <a:r>
              <a:rPr lang="ru-RU" dirty="0"/>
              <a:t>; </a:t>
            </a:r>
          </a:p>
          <a:p>
            <a:pPr marL="1255713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ru-RU" b="1" cap="all" dirty="0"/>
              <a:t>приложения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6479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Требования к выпускной квалификационной работе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4868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ВВЕДЕНИЕ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1013299"/>
            <a:ext cx="9144000" cy="5855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1338" algn="just"/>
            <a:r>
              <a:rPr lang="ru-RU" sz="2000" dirty="0"/>
              <a:t>содержит четкое и краткое обоснование выбора темы и выдвигаемой гипотезы, определение ее актуальности, предмета и объекта исследования, формулировку ее целей и задач.</a:t>
            </a:r>
          </a:p>
          <a:p>
            <a:pPr indent="541338" algn="just"/>
            <a:endParaRPr lang="ru-RU" sz="105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541338" algn="just"/>
            <a:r>
              <a:rPr lang="ru-RU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Обязательные элементы:</a:t>
            </a:r>
          </a:p>
          <a:p>
            <a:pPr indent="541338" algn="just"/>
            <a:endParaRPr lang="ru-RU" sz="9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76325" indent="-28575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ru-RU" sz="2000" b="1" i="1" dirty="0"/>
              <a:t>обоснование выбора темы;</a:t>
            </a:r>
          </a:p>
          <a:p>
            <a:pPr marL="1076325" indent="-28575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ru-RU" sz="2000" b="1" i="1" dirty="0"/>
              <a:t>актуальность темы</a:t>
            </a:r>
          </a:p>
          <a:p>
            <a:pPr marL="1076325" indent="-28575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ru-RU" sz="2000" b="1" i="1" dirty="0"/>
              <a:t>объект исследования;</a:t>
            </a:r>
          </a:p>
          <a:p>
            <a:pPr marL="1076325" indent="-28575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ru-RU" sz="2000" b="1" i="1" dirty="0"/>
              <a:t>предмет исследования;</a:t>
            </a:r>
          </a:p>
          <a:p>
            <a:pPr marL="1076325" indent="-28575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ru-RU" sz="2000" b="1" i="1" dirty="0"/>
              <a:t>цель выпускной квалификационной работы;</a:t>
            </a:r>
          </a:p>
          <a:p>
            <a:pPr marL="1076325" indent="-28575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ru-RU" sz="2000" b="1" i="1" dirty="0"/>
              <a:t>задачи.</a:t>
            </a:r>
          </a:p>
          <a:p>
            <a:pPr algn="just"/>
            <a:endParaRPr lang="ru-RU" sz="2000" b="1" dirty="0"/>
          </a:p>
          <a:p>
            <a:pPr indent="541338" algn="just"/>
            <a:r>
              <a:rPr lang="ru-RU" sz="2000" dirty="0">
                <a:solidFill>
                  <a:srgbClr val="FF0000"/>
                </a:solidFill>
              </a:rPr>
              <a:t>В ВКР </a:t>
            </a:r>
            <a:r>
              <a:rPr lang="ru-RU" sz="2000" b="1" dirty="0">
                <a:solidFill>
                  <a:srgbClr val="FF0000"/>
                </a:solidFill>
              </a:rPr>
              <a:t>обучающихся по программам магистратуры </a:t>
            </a:r>
            <a:r>
              <a:rPr lang="ru-RU" sz="2000" dirty="0">
                <a:solidFill>
                  <a:srgbClr val="FF0000"/>
                </a:solidFill>
              </a:rPr>
              <a:t>также приводится </a:t>
            </a:r>
            <a:r>
              <a:rPr lang="ru-RU" sz="2000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описание</a:t>
            </a:r>
            <a:r>
              <a:rPr lang="ru-RU" sz="2000" dirty="0">
                <a:solidFill>
                  <a:srgbClr val="FF0000"/>
                </a:solidFill>
              </a:rPr>
              <a:t> используемых при выполнении работы</a:t>
            </a: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методов эмпирического исследования и обработки данных</a:t>
            </a:r>
            <a:r>
              <a:rPr lang="ru-RU" sz="2000" i="1" dirty="0">
                <a:solidFill>
                  <a:srgbClr val="FF0000"/>
                </a:solidFill>
              </a:rPr>
              <a:t>. </a:t>
            </a:r>
          </a:p>
          <a:p>
            <a:pPr indent="541338" algn="just"/>
            <a:endParaRPr lang="ru-RU" sz="1400" dirty="0"/>
          </a:p>
          <a:p>
            <a:pPr indent="541338" algn="just"/>
            <a:r>
              <a:rPr lang="ru-RU" sz="2000" b="1" dirty="0"/>
              <a:t>Объем введения составляет 2-4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71618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Требования к выпускной квалификационной работе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4868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cap="al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Основная часть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1196752"/>
            <a:ext cx="9144000" cy="546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1338" algn="just">
              <a:spcAft>
                <a:spcPts val="600"/>
              </a:spcAft>
            </a:pPr>
            <a:r>
              <a:rPr lang="ru-RU" b="1" dirty="0"/>
              <a:t>содержит критический анализ состояния проблемы, предлагаемые способы решения проблемы, проверку и подтверждение результатов исследования с указанием практического приложения результатов и перспектив, которые открывают итоги исследования ВКР.</a:t>
            </a:r>
          </a:p>
          <a:p>
            <a:pPr indent="541338" algn="just">
              <a:spcAft>
                <a:spcPts val="600"/>
              </a:spcAft>
            </a:pPr>
            <a:r>
              <a:rPr lang="ru-RU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Основная часть состоит не менее чем из 2 глав. </a:t>
            </a:r>
          </a:p>
          <a:p>
            <a:pPr indent="541338" algn="just">
              <a:spcAft>
                <a:spcPts val="600"/>
              </a:spcAft>
            </a:pPr>
            <a:r>
              <a:rPr lang="ru-RU" b="1" dirty="0"/>
              <a:t>Содержательно главы, </a:t>
            </a:r>
            <a:r>
              <a:rPr lang="ru-RU" b="1" i="1" dirty="0"/>
              <a:t>как правило</a:t>
            </a:r>
            <a:r>
              <a:rPr lang="ru-RU" b="1" dirty="0"/>
              <a:t>, включают в себя: </a:t>
            </a:r>
          </a:p>
          <a:p>
            <a:pPr marL="985838" indent="-28575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ru-RU" b="1" dirty="0"/>
              <a:t>анализ истории вопроса и его современного состояния, обзор литературы по исследуемой теме, представление различных точек зрения и обоснование позиций автора исследования, анализ и классификацию используемого материала на базе избранной обучающимся методики исследования; </a:t>
            </a:r>
          </a:p>
          <a:p>
            <a:pPr marL="985838" indent="-28575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ru-RU" b="1" dirty="0"/>
              <a:t>описание процесса теоретических и (или) экспериментальных исследований, методов исследований, методов расчета, обоснование необходимости проведения экспериментальных работ, принципов действия разработанных объектов, их характеристики; </a:t>
            </a:r>
          </a:p>
          <a:p>
            <a:pPr marL="985838" indent="-285750"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ru-RU" b="1" dirty="0"/>
              <a:t>обобщение и оценку результатов исследований, включающих оценку полноты решения поставленной задачи и предложения по дальнейшим направлениям работ, оценку достоверности полученных результатов и их сравнение с аналогичными результатами отечественных и зарубежных работ. </a:t>
            </a:r>
          </a:p>
        </p:txBody>
      </p:sp>
    </p:spTree>
    <p:extLst>
      <p:ext uri="{BB962C8B-B14F-4D97-AF65-F5344CB8AC3E}">
        <p14:creationId xmlns:p14="http://schemas.microsoft.com/office/powerpoint/2010/main" val="330520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Требования к выпускной квалификационной работе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4868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cap="al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Основная часть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012954"/>
            <a:ext cx="8784976" cy="5555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u="sng" dirty="0"/>
              <a:t>Содержание ВКР должно учитывать требования ФГОС ВО и включать в себя:</a:t>
            </a:r>
          </a:p>
          <a:p>
            <a:pPr marR="1000" indent="533400" algn="just">
              <a:spcBef>
                <a:spcPts val="600"/>
              </a:spcBef>
              <a:spcAft>
                <a:spcPts val="600"/>
              </a:spcAft>
            </a:pPr>
            <a:r>
              <a:rPr lang="ru-RU" b="1" dirty="0"/>
              <a:t>- обоснование выбора предмета и постановку задачи исследования, выполненные на основе обзора литературы, в том числе с учётом периодических научных изданий и результатов патентного поиска;</a:t>
            </a:r>
          </a:p>
          <a:p>
            <a:pPr marR="1090" indent="533400" algn="just">
              <a:spcBef>
                <a:spcPts val="600"/>
              </a:spcBef>
              <a:spcAft>
                <a:spcPts val="600"/>
              </a:spcAft>
            </a:pPr>
            <a:r>
              <a:rPr lang="ru-RU" b="1" dirty="0"/>
              <a:t>- теоретическую и/или экспериментальную части, включающие методы и средства исследований;</a:t>
            </a:r>
          </a:p>
          <a:p>
            <a:pPr marR="1030" indent="533400" algn="just">
              <a:spcBef>
                <a:spcPts val="600"/>
              </a:spcBef>
              <a:spcAft>
                <a:spcPts val="600"/>
              </a:spcAft>
            </a:pPr>
            <a:r>
              <a:rPr lang="ru-RU" b="1" dirty="0"/>
              <a:t>- математические модели, расчёты, проектно-конструкторскую и/или технологическую части (</a:t>
            </a:r>
            <a:r>
              <a:rPr lang="ru-RU" b="1" i="1" dirty="0"/>
              <a:t>для ВКР в области техники и технологий</a:t>
            </a:r>
            <a:r>
              <a:rPr lang="ru-RU" b="1" dirty="0"/>
              <a:t>);</a:t>
            </a:r>
          </a:p>
          <a:p>
            <a:pPr marR="1010" indent="533400" algn="just">
              <a:spcBef>
                <a:spcPts val="600"/>
              </a:spcBef>
              <a:spcAft>
                <a:spcPts val="600"/>
              </a:spcAft>
            </a:pPr>
            <a:r>
              <a:rPr lang="ru-RU" b="1" dirty="0"/>
              <a:t>- получение новых результатов, имеющих научную новизну и теоретическое, прикладное или научно-методическое значение;</a:t>
            </a:r>
          </a:p>
          <a:p>
            <a:pPr marR="1000" indent="533400" algn="just">
              <a:spcBef>
                <a:spcPts val="600"/>
              </a:spcBef>
              <a:spcAft>
                <a:spcPts val="600"/>
              </a:spcAft>
            </a:pPr>
            <a:r>
              <a:rPr lang="ru-RU" b="1" dirty="0"/>
              <a:t>- вопросы экономического обоснования и экологической безопасности;</a:t>
            </a:r>
          </a:p>
          <a:p>
            <a:pPr marL="0" lvl="1" indent="533400" algn="just">
              <a:spcBef>
                <a:spcPts val="600"/>
              </a:spcBef>
              <a:spcAft>
                <a:spcPts val="600"/>
              </a:spcAft>
            </a:pPr>
            <a:r>
              <a:rPr lang="ru-RU" b="1" dirty="0"/>
              <a:t>- анализ полученных результатов;</a:t>
            </a:r>
          </a:p>
          <a:p>
            <a:pPr marL="0" lvl="1" indent="533400" algn="just">
              <a:spcBef>
                <a:spcPts val="600"/>
              </a:spcBef>
              <a:spcAft>
                <a:spcPts val="600"/>
              </a:spcAft>
            </a:pPr>
            <a:r>
              <a:rPr lang="ru-RU" b="1" dirty="0"/>
              <a:t>- выводы;</a:t>
            </a:r>
          </a:p>
          <a:p>
            <a:pPr marL="0" lvl="1" indent="533400" algn="just">
              <a:spcBef>
                <a:spcPts val="600"/>
              </a:spcBef>
              <a:spcAft>
                <a:spcPts val="600"/>
              </a:spcAft>
            </a:pPr>
            <a:r>
              <a:rPr lang="ru-RU" b="1" dirty="0"/>
              <a:t>- список использованных источников;</a:t>
            </a:r>
          </a:p>
          <a:p>
            <a:pPr marL="0" lvl="1" indent="533400" algn="just">
              <a:spcBef>
                <a:spcPts val="600"/>
              </a:spcBef>
              <a:spcAft>
                <a:spcPts val="600"/>
              </a:spcAft>
            </a:pPr>
            <a:r>
              <a:rPr lang="ru-RU" b="1" dirty="0"/>
              <a:t>- приложение.</a:t>
            </a:r>
          </a:p>
        </p:txBody>
      </p:sp>
    </p:spTree>
    <p:extLst>
      <p:ext uri="{BB962C8B-B14F-4D97-AF65-F5344CB8AC3E}">
        <p14:creationId xmlns:p14="http://schemas.microsoft.com/office/powerpoint/2010/main" val="81442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Требования к выпускной квалификационной работе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4868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cap="al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Основная часть. пример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952" y="956738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013"/>
            <a:r>
              <a:rPr lang="ru-RU" dirty="0"/>
              <a:t>ВВЕДЕНИЕ</a:t>
            </a:r>
            <a:br>
              <a:rPr lang="ru-RU" dirty="0"/>
            </a:br>
            <a:r>
              <a:rPr lang="ru-RU" b="1" dirty="0"/>
              <a:t>1 </a:t>
            </a:r>
            <a:r>
              <a:rPr lang="ru-RU" b="1" cap="all" dirty="0"/>
              <a:t>Состояние вопроса и задачи исследований</a:t>
            </a:r>
            <a:br>
              <a:rPr lang="ru-RU" b="1" dirty="0"/>
            </a:br>
            <a:r>
              <a:rPr lang="ru-RU" dirty="0"/>
              <a:t>1.1 Анализ технических средств для …</a:t>
            </a:r>
            <a:br>
              <a:rPr lang="ru-RU" dirty="0"/>
            </a:br>
            <a:r>
              <a:rPr lang="ru-RU" dirty="0"/>
              <a:t>1.2 Пути совершенствования рабочих органов для …</a:t>
            </a:r>
            <a:br>
              <a:rPr lang="ru-RU" dirty="0"/>
            </a:br>
            <a:r>
              <a:rPr lang="ru-RU" dirty="0"/>
              <a:t>1.3 Анализ теоретических исследований по разработке технических средств …</a:t>
            </a:r>
            <a:endParaRPr lang="ru-RU" sz="800" dirty="0"/>
          </a:p>
          <a:p>
            <a:pPr marL="354013"/>
            <a:endParaRPr lang="ru-RU" b="1" dirty="0"/>
          </a:p>
          <a:p>
            <a:pPr marL="354013"/>
            <a:r>
              <a:rPr lang="ru-RU" b="1" dirty="0"/>
              <a:t>2 </a:t>
            </a:r>
            <a:r>
              <a:rPr lang="ru-RU" b="1" cap="all" dirty="0"/>
              <a:t>Теоретические исследования</a:t>
            </a:r>
            <a:br>
              <a:rPr lang="ru-RU" b="1" dirty="0"/>
            </a:br>
            <a:r>
              <a:rPr lang="ru-RU" dirty="0"/>
              <a:t>2.1 Разработка математической модели процесса …</a:t>
            </a:r>
            <a:br>
              <a:rPr lang="ru-RU" dirty="0"/>
            </a:br>
            <a:r>
              <a:rPr lang="ru-RU" dirty="0"/>
              <a:t>2.2 Проведение, интерпретация и анализ результатов модельных экспериментов …</a:t>
            </a:r>
            <a:br>
              <a:rPr lang="ru-RU" dirty="0"/>
            </a:br>
            <a:r>
              <a:rPr lang="ru-RU" dirty="0"/>
              <a:t>2.3 Теоретическое обоснование конструктивных параметров и режимов работы …</a:t>
            </a:r>
          </a:p>
          <a:p>
            <a:pPr marL="354013"/>
            <a:br>
              <a:rPr lang="ru-RU" dirty="0"/>
            </a:br>
            <a:r>
              <a:rPr lang="ru-RU" b="1" dirty="0"/>
              <a:t>3 </a:t>
            </a:r>
            <a:r>
              <a:rPr lang="ru-RU" b="1" cap="all" dirty="0"/>
              <a:t>Экспериментальные исследования</a:t>
            </a:r>
          </a:p>
          <a:p>
            <a:pPr marL="354013"/>
            <a:r>
              <a:rPr lang="ru-RU" dirty="0"/>
              <a:t>3.1 Методика экспериментальных исследований</a:t>
            </a:r>
          </a:p>
          <a:p>
            <a:pPr marL="354013"/>
            <a:r>
              <a:rPr lang="ru-RU" dirty="0"/>
              <a:t>3.2 Результаты и анализ экспериментальных исследований</a:t>
            </a:r>
          </a:p>
          <a:p>
            <a:pPr marL="354013"/>
            <a:r>
              <a:rPr lang="ru-RU" dirty="0"/>
              <a:t>3.3 Экспериментальное обоснование конструктивных параметров и режимов работы …</a:t>
            </a:r>
          </a:p>
          <a:p>
            <a:pPr marL="354013"/>
            <a:endParaRPr lang="ru-RU" b="1" dirty="0"/>
          </a:p>
          <a:p>
            <a:pPr marL="354013"/>
            <a:r>
              <a:rPr lang="ru-RU" b="1" dirty="0"/>
              <a:t>4 </a:t>
            </a:r>
            <a:r>
              <a:rPr lang="ru-RU" b="1" cap="all" dirty="0"/>
              <a:t>Технико-экономическое обоснование технологических и конструкционных решений</a:t>
            </a:r>
          </a:p>
          <a:p>
            <a:pPr marL="354013"/>
            <a:r>
              <a:rPr lang="ru-RU" dirty="0"/>
              <a:t>ЗАКЛЮЧЕНИЕ</a:t>
            </a:r>
            <a:br>
              <a:rPr lang="ru-RU" dirty="0"/>
            </a:br>
            <a:r>
              <a:rPr lang="ru-RU" dirty="0"/>
              <a:t>СПИСОК ЛИТЕРАТУРНЫХ ИСТОЧНИКОВ</a:t>
            </a:r>
            <a:br>
              <a:rPr lang="ru-RU" dirty="0"/>
            </a:br>
            <a:r>
              <a:rPr lang="ru-RU" dirty="0"/>
              <a:t>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72210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Требования к выпускной квалификационной работе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4868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ЗАКЛЮЧЕНИЕ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1196752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1338" algn="just"/>
            <a:r>
              <a:rPr lang="ru-RU" sz="2000" dirty="0"/>
              <a:t>последовательное логически стройное изложение итогов и их соотношение с общей целью и конкретными задачами, поставленными и сформулированными во введении.</a:t>
            </a:r>
          </a:p>
          <a:p>
            <a:pPr indent="541338" algn="just"/>
            <a:endParaRPr lang="ru-RU" sz="800" dirty="0"/>
          </a:p>
          <a:p>
            <a:pPr indent="541338" algn="just"/>
            <a:r>
              <a:rPr lang="ru-RU" sz="2000" dirty="0"/>
              <a:t>Заключение может включать в себя и практические предложения, что повышает ценность теоретического материала, но не должно повторять введение.</a:t>
            </a:r>
          </a:p>
          <a:p>
            <a:pPr indent="541338" algn="just"/>
            <a:endParaRPr lang="ru-RU" sz="2000" dirty="0"/>
          </a:p>
          <a:p>
            <a:pPr indent="541338" algn="just"/>
            <a:r>
              <a:rPr lang="ru-RU" sz="2000" b="1" dirty="0"/>
              <a:t>Объем заключения составляет 2-4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2327429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Требования к выпускной квалификационной работе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4868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cap="al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Список использованных источников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105273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содержит изученные и использованные обучающимся печатные источники, а также </a:t>
            </a:r>
            <a:r>
              <a:rPr lang="ru-RU" dirty="0" err="1"/>
              <a:t>интернет-ресурсы</a:t>
            </a:r>
            <a:r>
              <a:rPr lang="ru-RU" dirty="0"/>
              <a:t>, оформленные в установленном порядке, согласно  </a:t>
            </a:r>
          </a:p>
          <a:p>
            <a:pPr algn="ctr"/>
            <a:r>
              <a:rPr lang="ru-RU" b="1" dirty="0"/>
              <a:t>ГОСТ Р 7.0.5-2008 Библиографическая ссылка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97970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52" y="2353616"/>
            <a:ext cx="9144000" cy="429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50"/>
              </a:spcBef>
            </a:pPr>
            <a:r>
              <a:rPr lang="ru-RU" sz="1300" b="1" dirty="0"/>
              <a:t>Книга:</a:t>
            </a:r>
            <a:r>
              <a:rPr lang="ru-RU" sz="1300" dirty="0"/>
              <a:t> Попов В.Д., Максимов Д.А., Морозов Ю.Л. и др. Технологическая модернизация отраслей растениеводства АПК Северо-Западного федерального округа. – СПб.: ГНУ СЗНИИМЭСХ </a:t>
            </a:r>
            <a:r>
              <a:rPr lang="ru-RU" sz="1300" dirty="0" err="1"/>
              <a:t>Россельхозакадемии</a:t>
            </a:r>
            <a:r>
              <a:rPr lang="ru-RU" sz="1300" dirty="0"/>
              <a:t>, 2014. – 288 с.</a:t>
            </a:r>
          </a:p>
          <a:p>
            <a:pPr algn="just">
              <a:spcBef>
                <a:spcPts val="150"/>
              </a:spcBef>
            </a:pPr>
            <a:r>
              <a:rPr lang="ru-RU" sz="1300" b="1" dirty="0"/>
              <a:t>Учебник:</a:t>
            </a:r>
            <a:r>
              <a:rPr lang="ru-RU" sz="1300" dirty="0"/>
              <a:t> Современные проблемы науки и производства в </a:t>
            </a:r>
            <a:r>
              <a:rPr lang="ru-RU" sz="1300" dirty="0" err="1"/>
              <a:t>агроинжененрии</a:t>
            </a:r>
            <a:r>
              <a:rPr lang="ru-RU" sz="1300" dirty="0"/>
              <a:t>: учебник / Под ред. А.И. </a:t>
            </a:r>
            <a:r>
              <a:rPr lang="ru-RU" sz="1300" dirty="0" err="1"/>
              <a:t>Завражнова</a:t>
            </a:r>
            <a:r>
              <a:rPr lang="ru-RU" sz="1300" dirty="0"/>
              <a:t>. – СПб.: Издательство «Лань», 2013. – 496 с.</a:t>
            </a:r>
          </a:p>
          <a:p>
            <a:pPr algn="just">
              <a:spcBef>
                <a:spcPts val="150"/>
              </a:spcBef>
            </a:pPr>
            <a:r>
              <a:rPr lang="ru-RU" sz="1300" b="1" dirty="0"/>
              <a:t>Диссертация</a:t>
            </a:r>
            <a:r>
              <a:rPr lang="ru-RU" sz="1300" dirty="0"/>
              <a:t>: </a:t>
            </a:r>
            <a:r>
              <a:rPr lang="ru-RU" sz="1300" dirty="0" err="1"/>
              <a:t>Мударисов</a:t>
            </a:r>
            <a:r>
              <a:rPr lang="ru-RU" sz="1300" dirty="0"/>
              <a:t> С.Г. Повышение качества обработки почвы путем совершенствования рабочих органов машин на основе моделирования технологического процесса: </a:t>
            </a:r>
            <a:r>
              <a:rPr lang="ru-RU" sz="1300" dirty="0" err="1"/>
              <a:t>дис</a:t>
            </a:r>
            <a:r>
              <a:rPr lang="ru-RU" sz="1300" dirty="0"/>
              <a:t>. ... д-ра </a:t>
            </a:r>
            <a:r>
              <a:rPr lang="ru-RU" sz="1300" dirty="0" err="1"/>
              <a:t>техн</a:t>
            </a:r>
            <a:r>
              <a:rPr lang="ru-RU" sz="1300" dirty="0"/>
              <a:t>. наук: 05.20.01. – Челябинск, 2007. – 351 с.</a:t>
            </a:r>
          </a:p>
          <a:p>
            <a:pPr algn="just">
              <a:spcBef>
                <a:spcPts val="150"/>
              </a:spcBef>
            </a:pPr>
            <a:r>
              <a:rPr lang="ru-RU" sz="1300" b="1" dirty="0"/>
              <a:t>Автореферат</a:t>
            </a:r>
            <a:r>
              <a:rPr lang="ru-RU" sz="1300" dirty="0"/>
              <a:t>: </a:t>
            </a:r>
            <a:r>
              <a:rPr lang="ru-RU" sz="1300" dirty="0" err="1"/>
              <a:t>Заиров</a:t>
            </a:r>
            <a:r>
              <a:rPr lang="ru-RU" sz="1300" dirty="0"/>
              <a:t> Х.А. Моделирование и разработка имитационной системы обоснования себестоимости перевозки грузов на сельскохозяйственных предприятиях: </a:t>
            </a:r>
            <a:r>
              <a:rPr lang="ru-RU" sz="1300" dirty="0" err="1"/>
              <a:t>автореф</a:t>
            </a:r>
            <a:r>
              <a:rPr lang="ru-RU" sz="1300" dirty="0"/>
              <a:t>. … канд. эк. наук. – Ташкент, 1992. – 18 с.</a:t>
            </a:r>
          </a:p>
          <a:p>
            <a:pPr algn="just">
              <a:spcBef>
                <a:spcPts val="150"/>
              </a:spcBef>
            </a:pPr>
            <a:r>
              <a:rPr lang="ru-RU" sz="1300" b="1" dirty="0"/>
              <a:t>Статья в журнале</a:t>
            </a:r>
            <a:r>
              <a:rPr lang="ru-RU" sz="1300" dirty="0"/>
              <a:t>: Калинин А.Б., Ружьев В.А., </a:t>
            </a:r>
            <a:r>
              <a:rPr lang="ru-RU" sz="1300" dirty="0" err="1"/>
              <a:t>Дзибук</a:t>
            </a:r>
            <a:r>
              <a:rPr lang="ru-RU" sz="1300" dirty="0"/>
              <a:t> И.С., Гринько С.В., Суслов А.С. Рациональные режимы функционирования дисковых рабочих органов // Сельский механизатор. – 2016. – №1. – С. 8-9.</a:t>
            </a:r>
          </a:p>
          <a:p>
            <a:pPr algn="just">
              <a:spcBef>
                <a:spcPts val="150"/>
              </a:spcBef>
            </a:pPr>
            <a:r>
              <a:rPr lang="ru-RU" sz="1300" b="1" dirty="0"/>
              <a:t>Статья в научном сборнике:</a:t>
            </a:r>
            <a:r>
              <a:rPr lang="ru-RU" sz="1300" dirty="0"/>
              <a:t> Ожегов Н.М., Ружьев В.А., </a:t>
            </a:r>
            <a:r>
              <a:rPr lang="ru-RU" sz="1300" dirty="0" err="1"/>
              <a:t>Капошко</a:t>
            </a:r>
            <a:r>
              <a:rPr lang="ru-RU" sz="1300" dirty="0"/>
              <a:t> Д.А. Повышение долговечности сменных деталей почвообрабатывающих машин методом прерывистой наплавки твердыми сплавами // «Технологии упрочнения, нанесения покрытий и ремонта: теории и практика»: материалы 17-й международной научно-практической конференции (Санкт-Петербург, 14-17 апреля 2015 г.). – СПб.: Издательство Политехнического университета, 2015. – С. 147-153.</a:t>
            </a:r>
          </a:p>
          <a:p>
            <a:pPr algn="just">
              <a:spcBef>
                <a:spcPts val="150"/>
              </a:spcBef>
            </a:pPr>
            <a:r>
              <a:rPr lang="ru-RU" sz="1300" b="1" dirty="0"/>
              <a:t>Патент:</a:t>
            </a:r>
            <a:r>
              <a:rPr lang="ru-RU" sz="1300" dirty="0"/>
              <a:t> Пат. 2298906 Российская Федерация, МПК А01С7/02 Сеялка ручная / </a:t>
            </a:r>
            <a:r>
              <a:rPr lang="ru-RU" sz="1300" dirty="0" err="1"/>
              <a:t>Одержаховский</a:t>
            </a:r>
            <a:r>
              <a:rPr lang="ru-RU" sz="1300" dirty="0"/>
              <a:t> Виктор Васильевич; заявитель и патентообладатель: </a:t>
            </a:r>
            <a:r>
              <a:rPr lang="ru-RU" sz="1300" dirty="0" err="1"/>
              <a:t>Одержаховский</a:t>
            </a:r>
            <a:r>
              <a:rPr lang="ru-RU" sz="1300" dirty="0"/>
              <a:t> Виктор Васильевич. – № 2005126685/13; </a:t>
            </a:r>
            <a:r>
              <a:rPr lang="ru-RU" sz="1300" dirty="0" err="1"/>
              <a:t>заявл</a:t>
            </a:r>
            <a:r>
              <a:rPr lang="ru-RU" sz="1300" dirty="0"/>
              <a:t>. 23.08.2005; </a:t>
            </a:r>
            <a:r>
              <a:rPr lang="ru-RU" sz="1300" dirty="0" err="1"/>
              <a:t>опубл</a:t>
            </a:r>
            <a:r>
              <a:rPr lang="ru-RU" sz="1300" dirty="0"/>
              <a:t>. 23.0.2005. – 7 с: ил.</a:t>
            </a:r>
          </a:p>
          <a:p>
            <a:pPr algn="just">
              <a:spcBef>
                <a:spcPts val="150"/>
              </a:spcBef>
            </a:pPr>
            <a:r>
              <a:rPr lang="ru-RU" sz="1300" b="1" dirty="0"/>
              <a:t>ГОСТ:</a:t>
            </a:r>
            <a:r>
              <a:rPr lang="ru-RU" sz="1300" dirty="0"/>
              <a:t> ГОСТ Р 54861-2011 Окна и наружные двери. Методы </a:t>
            </a:r>
            <a:r>
              <a:rPr lang="ru-RU" sz="1300" dirty="0" err="1"/>
              <a:t>опредления</a:t>
            </a:r>
            <a:r>
              <a:rPr lang="ru-RU" sz="1300" dirty="0"/>
              <a:t> сопротивления теплопередаче. – </a:t>
            </a:r>
            <a:r>
              <a:rPr lang="ru-RU" sz="1300" dirty="0" err="1"/>
              <a:t>Введ</a:t>
            </a:r>
            <a:r>
              <a:rPr lang="ru-RU" sz="1300" dirty="0"/>
              <a:t>.  01.07.2012. – М.: </a:t>
            </a:r>
            <a:r>
              <a:rPr lang="ru-RU" sz="1300" dirty="0" err="1"/>
              <a:t>Стандартинформ</a:t>
            </a:r>
            <a:r>
              <a:rPr lang="ru-RU" sz="1300" dirty="0"/>
              <a:t>, 2012. – 20 с.</a:t>
            </a:r>
          </a:p>
          <a:p>
            <a:pPr algn="just">
              <a:spcBef>
                <a:spcPts val="150"/>
              </a:spcBef>
            </a:pPr>
            <a:r>
              <a:rPr lang="ru-RU" sz="1300" b="1" dirty="0"/>
              <a:t>Интернет-ресурс</a:t>
            </a:r>
            <a:r>
              <a:rPr lang="ru-RU" sz="1300" dirty="0"/>
              <a:t>: Отечественные комбинированные почвообрабатывающие агрегаты [Электронный ресурс]. – </a:t>
            </a:r>
            <a:r>
              <a:rPr lang="en-US" sz="1300" dirty="0"/>
              <a:t>URL</a:t>
            </a:r>
            <a:r>
              <a:rPr lang="ru-RU" sz="1300" dirty="0"/>
              <a:t>: </a:t>
            </a:r>
            <a:r>
              <a:rPr lang="ru-RU" sz="1300" u="sng" dirty="0">
                <a:hlinkClick r:id="rId2"/>
              </a:rPr>
              <a:t>http://sovxoz.com/otechestvennye-kombinirovannye-pochvoobrabatyvayushhie-agregaty/#more</a:t>
            </a:r>
            <a:r>
              <a:rPr lang="ru-RU" sz="1300" dirty="0"/>
              <a:t> (дата обращения: 20.02.2017). </a:t>
            </a:r>
          </a:p>
        </p:txBody>
      </p:sp>
    </p:spTree>
    <p:extLst>
      <p:ext uri="{BB962C8B-B14F-4D97-AF65-F5344CB8AC3E}">
        <p14:creationId xmlns:p14="http://schemas.microsoft.com/office/powerpoint/2010/main" val="3934465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Требования к выпускной квалификационной работе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4868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cap="al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Правила оформления расчетно-пояснительной записки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124744"/>
            <a:ext cx="914400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6575">
              <a:lnSpc>
                <a:spcPct val="150000"/>
              </a:lnSpc>
            </a:pPr>
            <a:r>
              <a:rPr lang="ru-RU" b="1" dirty="0"/>
              <a:t>Шрифт:</a:t>
            </a:r>
            <a:r>
              <a:rPr lang="ru-RU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Times New Roman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14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пт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(черный).</a:t>
            </a:r>
          </a:p>
          <a:p>
            <a:pPr indent="536575" algn="just"/>
            <a:r>
              <a:rPr lang="ru-RU" sz="1400" dirty="0">
                <a:cs typeface="Times New Roman" pitchFamily="18" charset="0"/>
              </a:rPr>
              <a:t>Разрешается использовать компьютерные возможности акцентирования внимания на определенных терминах, формулах, применяя шрифты разной гарнитуры.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indent="536575">
              <a:lnSpc>
                <a:spcPct val="150000"/>
              </a:lnSpc>
            </a:pPr>
            <a:r>
              <a:rPr lang="ru-RU" b="1" dirty="0"/>
              <a:t>Междустрочный интервал</a:t>
            </a:r>
            <a:r>
              <a:rPr lang="ru-RU" dirty="0"/>
              <a:t> – полуторный (1,5 строки).</a:t>
            </a:r>
          </a:p>
          <a:p>
            <a:pPr indent="536575">
              <a:lnSpc>
                <a:spcPct val="150000"/>
              </a:lnSpc>
            </a:pPr>
            <a:r>
              <a:rPr lang="ru-RU" b="1" dirty="0"/>
              <a:t>Выравнивание текста</a:t>
            </a:r>
            <a:r>
              <a:rPr lang="ru-RU" dirty="0"/>
              <a:t> – по ширине (         )</a:t>
            </a:r>
          </a:p>
          <a:p>
            <a:pPr indent="536575">
              <a:lnSpc>
                <a:spcPct val="150000"/>
              </a:lnSpc>
            </a:pPr>
            <a:r>
              <a:rPr lang="ru-RU" b="1" dirty="0"/>
              <a:t>Абзацный отступ </a:t>
            </a:r>
            <a:r>
              <a:rPr lang="ru-RU" b="1" u="sng" dirty="0"/>
              <a:t>одинаковы</a:t>
            </a:r>
            <a:r>
              <a:rPr lang="ru-RU" b="1" dirty="0"/>
              <a:t> по всему тексту документа</a:t>
            </a:r>
            <a:r>
              <a:rPr lang="ru-RU" dirty="0"/>
              <a:t> – 15 мм.</a:t>
            </a:r>
          </a:p>
          <a:p>
            <a:pPr indent="536575">
              <a:lnSpc>
                <a:spcPct val="150000"/>
              </a:lnSpc>
            </a:pPr>
            <a:r>
              <a:rPr lang="ru-RU" b="1" dirty="0"/>
              <a:t>Размеры полей: </a:t>
            </a:r>
            <a:r>
              <a:rPr lang="ru-RU" dirty="0"/>
              <a:t>левого – 30 мм; верхнего и нижнего – 20 мм; правого – 10 мм.</a:t>
            </a:r>
          </a:p>
          <a:p>
            <a:pPr indent="536575">
              <a:lnSpc>
                <a:spcPct val="150000"/>
              </a:lnSpc>
            </a:pPr>
            <a:r>
              <a:rPr lang="ru-RU" b="1" dirty="0"/>
              <a:t>Нумерация страниц </a:t>
            </a:r>
            <a:r>
              <a:rPr lang="ru-RU" dirty="0"/>
              <a:t>– в центре нижней части листа арабскими цифрами.</a:t>
            </a:r>
          </a:p>
          <a:p>
            <a:pPr indent="536575">
              <a:lnSpc>
                <a:spcPct val="150000"/>
              </a:lnSpc>
            </a:pPr>
            <a:endParaRPr lang="ru-RU" sz="800" dirty="0"/>
          </a:p>
          <a:p>
            <a:pPr indent="536575" algn="just"/>
            <a:r>
              <a:rPr lang="ru-RU" b="1" dirty="0"/>
              <a:t>Разделы, подразделы, пункты и подпункты</a:t>
            </a:r>
            <a:r>
              <a:rPr lang="ru-RU" dirty="0"/>
              <a:t> нумеруют арабскими цифрами и печатают с абзацного отступа. В конце номера точка не ставится, его отделяют от текста пробелом.</a:t>
            </a:r>
          </a:p>
          <a:p>
            <a:pPr indent="536575" algn="just"/>
            <a:r>
              <a:rPr lang="ru-RU" dirty="0"/>
              <a:t>Заголовки структурных элементов «</a:t>
            </a:r>
            <a:r>
              <a:rPr lang="ru-RU" b="1" cap="all" dirty="0"/>
              <a:t>Содержание</a:t>
            </a:r>
            <a:r>
              <a:rPr lang="ru-RU" dirty="0"/>
              <a:t>», «</a:t>
            </a:r>
            <a:r>
              <a:rPr lang="ru-RU" b="1" cap="all" dirty="0"/>
              <a:t>Введение</a:t>
            </a:r>
            <a:r>
              <a:rPr lang="ru-RU" dirty="0"/>
              <a:t>», «</a:t>
            </a:r>
            <a:r>
              <a:rPr lang="ru-RU" b="1" cap="all" dirty="0"/>
              <a:t>Заключение</a:t>
            </a:r>
            <a:r>
              <a:rPr lang="ru-RU" dirty="0"/>
              <a:t>», «</a:t>
            </a:r>
            <a:r>
              <a:rPr lang="ru-RU" b="1" cap="all" dirty="0"/>
              <a:t>Список использованных источников</a:t>
            </a:r>
            <a:r>
              <a:rPr lang="ru-RU" dirty="0"/>
              <a:t>», «</a:t>
            </a:r>
            <a:r>
              <a:rPr lang="ru-RU" b="1" cap="all" dirty="0"/>
              <a:t>Приложение</a:t>
            </a:r>
            <a:r>
              <a:rPr lang="ru-RU" dirty="0"/>
              <a:t>» располагают посредине строки и печатают прописными буквами полужирным шрифтом. Каждый структурный элемент следует начинать с новой страницы.</a:t>
            </a:r>
          </a:p>
          <a:p>
            <a:pPr indent="536575" algn="just"/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69" t="10131" r="57594" b="87496"/>
          <a:stretch/>
        </p:blipFill>
        <p:spPr bwMode="auto">
          <a:xfrm>
            <a:off x="4240530" y="2430980"/>
            <a:ext cx="403478" cy="374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805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Требования к выпускной квалификационной работе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4868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1" cap="al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Правила оформления расчетно-пояснительной записки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13" t="18015" r="37049" b="57313"/>
          <a:stretch/>
        </p:blipFill>
        <p:spPr bwMode="auto">
          <a:xfrm>
            <a:off x="251520" y="1153338"/>
            <a:ext cx="4168821" cy="2387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-18236" y="3565508"/>
            <a:ext cx="91622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4013" algn="just"/>
            <a:r>
              <a:rPr lang="ru-RU" sz="1400" b="1" dirty="0"/>
              <a:t>На все таблицы (рисунки) в тексте должны быть ссылки. Таблица (рисунок) должны располагаться непосредственно после текста, в котором они упоминается впервые, или на следующей странице (или в Приложении).</a:t>
            </a:r>
          </a:p>
          <a:p>
            <a:pPr indent="354013" algn="just"/>
            <a:r>
              <a:rPr lang="ru-RU" sz="1400" b="1" dirty="0"/>
              <a:t>Допускается нумеровать таблицы (рисунки) в пределах раздела, тогда номер таблицы (рисунка) состоит из номера раздела и порядкового номера таблицы (рисунка), разделенных точкой.</a:t>
            </a:r>
          </a:p>
          <a:p>
            <a:pPr indent="354013" algn="just"/>
            <a:r>
              <a:rPr lang="ru-RU" sz="1400" b="1" dirty="0"/>
              <a:t>Для оформления поясняющих данных к иллюстрации допускается использование шрифта 12 </a:t>
            </a:r>
            <a:r>
              <a:rPr lang="ru-RU" sz="1400" b="1" dirty="0" err="1"/>
              <a:t>пт</a:t>
            </a:r>
            <a:r>
              <a:rPr lang="ru-RU" sz="1400" b="1" dirty="0"/>
              <a:t>; таблицы – 10 </a:t>
            </a:r>
            <a:r>
              <a:rPr lang="ru-RU" sz="1400" b="1" dirty="0" err="1"/>
              <a:t>пт</a:t>
            </a:r>
            <a:r>
              <a:rPr lang="ru-RU" sz="1400" b="1" dirty="0"/>
              <a:t> и 12 пт.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5" y="5288340"/>
            <a:ext cx="9001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6575" algn="just"/>
            <a:r>
              <a:rPr lang="ru-RU" sz="1200" b="1" dirty="0"/>
              <a:t>Формулы</a:t>
            </a:r>
            <a:r>
              <a:rPr lang="ru-RU" sz="1200" dirty="0"/>
              <a:t> выделяют из текста в отдельную строку. Выше и ниже каждой формулы должно быть оставлено по свободной строке.</a:t>
            </a:r>
          </a:p>
          <a:p>
            <a:pPr indent="536575" algn="just"/>
            <a:r>
              <a:rPr lang="ru-RU" sz="1200" dirty="0"/>
              <a:t>Все формулы нумеруются . Номер проставляется арабскими цифрами в круглых скобках в крайнем правом положении на строке.</a:t>
            </a:r>
          </a:p>
          <a:p>
            <a:pPr indent="536575" algn="just"/>
            <a:r>
              <a:rPr lang="ru-RU" sz="1200" dirty="0"/>
              <a:t>Пояснения символов и числовых коэффициентов, входящих в формулу, приводят непосредственно под формулой (если соответствующие пояснения ранее не приведены в тексте).</a:t>
            </a:r>
          </a:p>
          <a:p>
            <a:pPr indent="536575" algn="just"/>
            <a:r>
              <a:rPr lang="ru-RU" sz="1200" dirty="0"/>
              <a:t>Пояснения каждого символа приводят с новой строки. Первую строку пояснения начинают со слова «где», без двоеточия и абзацного отступа. Пояснение символа приводят в той последовательности, в которой эти символы приведены в формуле.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4"/>
          <a:srcRect l="20880" t="27701" r="43751" b="12742"/>
          <a:stretch/>
        </p:blipFill>
        <p:spPr bwMode="auto">
          <a:xfrm>
            <a:off x="5868144" y="948790"/>
            <a:ext cx="2246898" cy="21281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5292081" y="3078701"/>
            <a:ext cx="35283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b="1" dirty="0"/>
              <a:t>Рисунок 1.2 – Структура перевозимых грузов при внутрихозяйственных перевозках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38277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Организация работы над </a:t>
            </a:r>
            <a:r>
              <a:rPr lang="ru-RU" b="1" cap="all" dirty="0" err="1"/>
              <a:t>вкр</a:t>
            </a:r>
            <a:endParaRPr lang="ru-RU" b="1" cap="all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518100"/>
            <a:ext cx="91440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/>
            <a:r>
              <a:rPr lang="ru-RU" dirty="0"/>
              <a:t>Выполнение ВКР производится в соответствии с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заданием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/>
              <a:t>и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графиком выполнения </a:t>
            </a:r>
            <a:r>
              <a:rPr lang="ru-RU" dirty="0"/>
              <a:t>работы, составленными и утвержденными в установленном порядке.</a:t>
            </a:r>
          </a:p>
          <a:p>
            <a:pPr indent="536575" algn="just"/>
            <a:endParaRPr lang="ru-RU" sz="600" dirty="0"/>
          </a:p>
          <a:p>
            <a:pPr indent="536575" algn="just"/>
            <a:r>
              <a:rPr lang="ru-RU" sz="1600" b="1" dirty="0">
                <a:solidFill>
                  <a:srgbClr val="FF0000"/>
                </a:solidFill>
              </a:rPr>
              <a:t>При несоблюдении графиков выполнения работы обучающимся на него могут быть наложены меры дисциплинарного воздействия, вплоть до отчисления по представлению выпускающей кафедры.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2023702"/>
            <a:ext cx="9144000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/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проверку ВКР на авторство и заимствование отвечает заведующий выпускающей кафедрой. </a:t>
            </a:r>
          </a:p>
          <a:p>
            <a:pPr indent="536575" algn="just"/>
            <a:r>
              <a:rPr lang="ru-RU" dirty="0"/>
              <a:t>Оригинальность текста ВКР должна составлять не менее 60%. ВКР, оригинальность текста которой составляет менее 65 %, возвращается автору на доработку и не допускается к представлению на отзыв руководителю ВКР и к предварительной защите. </a:t>
            </a:r>
          </a:p>
          <a:p>
            <a:pPr indent="536575" algn="just"/>
            <a:endParaRPr lang="ru-RU" sz="1000" dirty="0"/>
          </a:p>
          <a:p>
            <a:pPr indent="536575" algn="just"/>
            <a:r>
              <a:rPr lang="ru-RU" sz="1600" b="1" dirty="0">
                <a:solidFill>
                  <a:srgbClr val="FF0000"/>
                </a:solidFill>
              </a:rPr>
              <a:t>Выпускающие кафедры должны предоставить обучающимся возможность произвести предварительную проверку ВКР на авторство и заимствование.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4293096"/>
            <a:ext cx="9144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/>
            <a:r>
              <a:rPr lang="ru-RU" dirty="0"/>
              <a:t>Вопрос о допуске ВКР к защите рассматривается на заседании кафедры (предварительная защита ВКР) при наличии:</a:t>
            </a:r>
          </a:p>
          <a:p>
            <a:pPr indent="536575" algn="just"/>
            <a:r>
              <a:rPr lang="ru-RU" sz="1600" b="1" dirty="0"/>
              <a:t>- заключения с результатами проверки работы на авторство и заимствование, подтверждающего оригинальность текста ВКР не менее  65%, </a:t>
            </a:r>
          </a:p>
          <a:p>
            <a:pPr indent="536575" algn="just"/>
            <a:r>
              <a:rPr lang="ru-RU" sz="1600" b="1" dirty="0"/>
              <a:t>- положительного отзыва руководителя ВКР. </a:t>
            </a:r>
          </a:p>
          <a:p>
            <a:pPr indent="536575" algn="just"/>
            <a:endParaRPr lang="ru-RU" dirty="0"/>
          </a:p>
          <a:p>
            <a:pPr indent="536575" algn="just"/>
            <a:r>
              <a:rPr lang="ru-RU" dirty="0"/>
              <a:t>Предварительная защита ВКР обучающихся </a:t>
            </a:r>
            <a:r>
              <a:rPr lang="ru-RU" b="1" dirty="0"/>
              <a:t>по ОП магистратуры </a:t>
            </a:r>
            <a:r>
              <a:rPr lang="ru-RU" dirty="0"/>
              <a:t>проводится с обязательным участием руководителя ОП магистратуры. </a:t>
            </a:r>
          </a:p>
        </p:txBody>
      </p:sp>
    </p:spTree>
    <p:extLst>
      <p:ext uri="{BB962C8B-B14F-4D97-AF65-F5344CB8AC3E}">
        <p14:creationId xmlns:p14="http://schemas.microsoft.com/office/powerpoint/2010/main" val="725976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/>
              <a:t>Защита </a:t>
            </a:r>
            <a:r>
              <a:rPr lang="ru-RU" b="1" cap="all" dirty="0" err="1"/>
              <a:t>вкр</a:t>
            </a:r>
            <a:endParaRPr lang="ru-RU" b="1" cap="all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476672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u="sng" dirty="0"/>
              <a:t>ДОКЛАД:</a:t>
            </a:r>
            <a:r>
              <a:rPr lang="ru-RU" sz="2000" u="sng" dirty="0"/>
              <a:t> </a:t>
            </a:r>
          </a:p>
          <a:p>
            <a:pPr indent="536575"/>
            <a:r>
              <a:rPr lang="ru-RU" sz="2000" b="1" dirty="0"/>
              <a:t>- обосновывается актуальность темы;</a:t>
            </a:r>
          </a:p>
          <a:p>
            <a:pPr indent="536575"/>
            <a:r>
              <a:rPr lang="ru-RU" sz="2000" b="1" dirty="0"/>
              <a:t>- формулируются цель и задачи исследования, методы их решения,</a:t>
            </a:r>
          </a:p>
          <a:p>
            <a:pPr indent="536575" algn="just"/>
            <a:r>
              <a:rPr lang="ru-RU" sz="2000" b="1" dirty="0"/>
              <a:t>- кратко излагаются основные положения работы, выводы, особо выделяя предложения и практические рекомендации.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2492896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u="sng" cap="all" dirty="0"/>
              <a:t>При определении оценки ВКР будут учитываются следующие показатели: </a:t>
            </a:r>
          </a:p>
          <a:p>
            <a:pPr marL="892175" indent="-28575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ü"/>
            </a:pPr>
            <a:r>
              <a:rPr lang="ru-RU" b="1" dirty="0"/>
              <a:t>актуальность темы и содержание ВКР; </a:t>
            </a:r>
          </a:p>
          <a:p>
            <a:pPr marL="892175" indent="-28575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ü"/>
            </a:pPr>
            <a:r>
              <a:rPr lang="ru-RU" b="1" dirty="0"/>
              <a:t>технический (научный) уровень ВКР; </a:t>
            </a:r>
          </a:p>
          <a:p>
            <a:pPr marL="892175" indent="-28575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ü"/>
            </a:pPr>
            <a:r>
              <a:rPr lang="ru-RU" b="1" dirty="0"/>
              <a:t>новизна и оригинальность решений; </a:t>
            </a:r>
          </a:p>
          <a:p>
            <a:pPr marL="892175" indent="-28575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ü"/>
            </a:pPr>
            <a:r>
              <a:rPr lang="ru-RU" b="1" dirty="0"/>
              <a:t>глубина изучения всех вопросов; </a:t>
            </a:r>
          </a:p>
          <a:p>
            <a:pPr marL="892175" indent="-28575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ü"/>
            </a:pPr>
            <a:r>
              <a:rPr lang="ru-RU" b="1" dirty="0"/>
              <a:t>степень самостоятельности обучающегося, его инициативность; </a:t>
            </a:r>
          </a:p>
          <a:p>
            <a:pPr marL="892175" indent="-28575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ü"/>
            </a:pPr>
            <a:r>
              <a:rPr lang="ru-RU" b="1" dirty="0"/>
              <a:t>содержание доклада, наглядность, информативность и лаконичность презентации, сопровождающей доклад; </a:t>
            </a:r>
          </a:p>
          <a:p>
            <a:pPr marL="892175" indent="-28575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ü"/>
            </a:pPr>
            <a:r>
              <a:rPr lang="ru-RU" b="1" dirty="0"/>
              <a:t>ответы на вопросы; </a:t>
            </a:r>
          </a:p>
          <a:p>
            <a:pPr marL="892175" indent="-28575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ü"/>
            </a:pPr>
            <a:r>
              <a:rPr lang="ru-RU" b="1" dirty="0"/>
              <a:t>отзывы рецензента и руководителя ВКР. </a:t>
            </a:r>
          </a:p>
          <a:p>
            <a:pPr indent="536575" algn="just"/>
            <a:r>
              <a:rPr lang="ru-RU" b="1" dirty="0"/>
              <a:t>Также принимается во внимание уровень теоретической, научной и практической подготовки обучающегося. </a:t>
            </a:r>
          </a:p>
        </p:txBody>
      </p:sp>
    </p:spTree>
    <p:extLst>
      <p:ext uri="{BB962C8B-B14F-4D97-AF65-F5344CB8AC3E}">
        <p14:creationId xmlns:p14="http://schemas.microsoft.com/office/powerpoint/2010/main" val="1515633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2052</Words>
  <Application>Microsoft Office PowerPoint</Application>
  <PresentationFormat>Экран (4:3)</PresentationFormat>
  <Paragraphs>148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Владимир Волков</cp:lastModifiedBy>
  <cp:revision>120</cp:revision>
  <cp:lastPrinted>2017-04-18T08:44:26Z</cp:lastPrinted>
  <dcterms:modified xsi:type="dcterms:W3CDTF">2025-06-20T13:39:11Z</dcterms:modified>
</cp:coreProperties>
</file>