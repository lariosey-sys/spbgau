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  <p:sldMasterId id="2147483708" r:id="rId2"/>
  </p:sldMasterIdLst>
  <p:notesMasterIdLst>
    <p:notesMasterId r:id="rId7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F08"/>
    <a:srgbClr val="3AB711"/>
    <a:srgbClr val="24AB1E"/>
    <a:srgbClr val="3FAB3C"/>
    <a:srgbClr val="20B09C"/>
    <a:srgbClr val="FFC452"/>
    <a:srgbClr val="DDDB00"/>
    <a:srgbClr val="A5DA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3F054-0880-4C73-B2FD-2F8E7282255D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84138-9921-45FE-9579-95DB806E4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971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Уважаемые члены государственной экзаменационной комиссии! Вашему вниманию представляется выпускная квалификационная работа магистра на тему «Разработка и внедрение интеллектуальной системы управления микроклиматом в теплице на основе машинного обучения для повышения эффективности выращивания растений». Работу выполнил Ларионов Сергей Иванович, научный руководитель — кандидат технических наук, доцент Гулин Сергей Васильевич.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Актуальность работы. Теплица — это одновременно теплотехнический и киберфизический объект: температура, влажность, CO2, вентиляция, нагрев и увлажнение связаны между собой и обладают инерцией. Включение вентилятора меняет сразу и температуру, и влажность, и CO2, а нагрев действует с запаздыванием. Поэтому управление нельзя свести к ручным пороговым правилам без накопления истории. При этом отопление, вентиляция и освещение потребляют значительную энергию. Чтобы применять машинное обучение, нужна не разовая схема «датчик — реле», а расширяемая IoT-платформа, которая надёжно собирает данные и готовит их для анализа.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 и задачи работы приведены на слайде. С вашего позволения зачитывать их не буду и перейду сразу к сути — к архитектуре платформы и полученным результатам.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перейти к собственному решению — коротко об основных подходах из аналитического обзора. Первое направление — IoT и smart greenhouse: датчики, протокол MQTT, веб-мониторинг и слияние разнородных данных. Второе — прогнозирование микроклимата и урожая по временным рядам: LSTM, RNN, TCN, Transformer и вероятностные модели. Третье — методы управления: от классических PID и нечёткой логики до модельно-предиктивного управления MPC, обучения с подкреплением и эвристической оптимизации, вплоть до участия агронома в контуре. Четвёртое — энергоэффективность: прогнозное управление против лишних включений и учёт вентиляционных теплопотерь. Главный вывод обзора: методы развиты, но редко доведены до конкретной малой теплицы с реальной прошивкой и совместным журналированием измерений и управляющих воздействий. Именно эту нишу закрывает предложенная платформа.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Объект исследования — тепловлажностный режим теплицы как управляемая киберфизическая система. Предмет — методы и программно-аппаратные средства мониторинга и управления. Научная новизна носит архитектурно-методический характер. В отличие от одноразовой схемы «датчик — реле — панель», предложен единый контур, где разнородные датчики публикуют данные в общей модели обмена, управляющие воздействия регистрируются совместно с параметрами микроклимата, а накопленная история становится основой для ML-прогноза реакции теплицы. При этом новый алгоритм машинного обучения не заявляется: ML — это прогнозная надстройка над безопасным правиловым контуром.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 платформы построена по распределённому принципу и включает четыре уровня. Сенсорный уровень — узлы на ESP8266 с датчиками DHT11 и SCD30. Исполнительный — контроллер на Arduino Mega 2560, управляющий пятнадцатью силовыми реле. Коммуникационный — MQTT-брокер Mosquitto. Серверно-аналитический — Flask-панель оператора с правилами и профилями и журнал SQLite. Ключевое решение — разделение команды и подтверждённого состояния: панель не переключает выходы напрямую, а публикует команду в MQTT, и истинным считается только состояние, подтверждённое контроллером. Такое разделение делает поток данных наблюдаемым и позволяет добавлять новые датчики без переписывания системы.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Практически реализован полный контур. Сенсорные узлы публикуют температуру, влажность и CO2 в формате JSON. Силовая часть собрана в шкафу управления: блоки питания, автоматы, контроллер и группа силовых реле SONGLE на 30 ампер. Однофазные нагрузки 220 вольт реле коммутируют напрямую, а трёхфазные электронагреватели 380 вольт — через пускатели. Оператор работает через web-панель: текущее состояние датчиков, ручное управление, правила с гистерезисом и профили — безопасные для реального оборудования последовательности действий.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Платформа не осталась макетом — она внедрена и отработала на опытном тепличном боксе объёмом 24 кубометра. С Raspberry Pi получена реальная история эксплуатации за период с 28 марта по 26 мая 2026 года: около 244 тысяч сенсорных записей и 165 событий реле по трём источникам — th-1, th-2 и co2-1. Это подтверждает главное: система не только отображает текущие значения, но и формирует воспроизводимый исследовательский датасет, пригодный для анализа и машинного обучения.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Разведочный анализ дал ряд содержательных результатов. Установлен устойчивый суточный ход температуры с минимумом около восьми утра и максимумом около семнадцати часов, амплитудой 2,6–3,1 градуса. Расхождение датчиков th-1 и th-2 меняется по суткам от 0,1 до почти 5 градусов — это не фиксированная погрешность калибровки, а реальный пространственный градиент между боксами, зависящий от вентиляции и нагрева. Отсюда вывод: один датчик не описывает всю теплицу, архитектура должна хранить несколько точек измерения с идентификатором источника. Кроме того, за все 55 суток ночью не было ни одного переключения реле — контур работает только днём.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Совместный анализ температуры и влажности выявил профильный теплотехнический результат — хронически высокий дефицит давления водяного пара. Влажность держалась около 28 процентов, поэтому VPD составил 2,3–2,7 килопаскаля при оптимуме 0,8–1,2, и в оптимальную зону воздух не попадал практически никогда. VPD определяет транспирацию и поток скрытой теплоты — то есть нагрузку на вентиляцию и увлажнение. По этим данным рассчитана требуемая производительность увлажнения: от 2 до 12 литров в час, что на один-два порядка выше фактической. Это конкретная инженерная рекомендация, а не качественное наблюдение.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Центральный результат профильной части — численная теплотехническая модель бокса. Так как ночью нагрев не работал, ночное остывание — чистый релаксационный процесс. По кривым остывания за 56 ночей идентифицированы постоянная времени порядка 9–10 часов и эффективная теплоёмкость около 3,8 мегаджоуля на кельвин — это в 130 раз больше теплоёмкости воздуха и эквивалентно почти тонне воды: тепло запасают гидропонные баки и конструкции. Рассчитаны коэффициенты кондуктивных и вентиляционных потерь и кратность воздухообмена около 50 в час. Отсюда двухмасштабная структура «быстрый воздух — медленная масса», которая обосновывает выбор горизонта прогноза 10–30 минут. Установленная мощность нагрева 12 киловатт получила инженерное обоснование как мощность подогрева приточного воздуха при зимнем перепаде. Тем самым тепловой баланс замкнут и проверен по эксперименту.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Отдельный блок результатов связывает работу напрямую с её темой — эффективностью выращивания. Теплица использовалась для выращивания салата, и платформа позволила сопоставить световые режимы с урожаем и качеством продукции. Обнаружена важная для энергоэффективности закономерность: зависимость урожая от световой дозы нелинейна и быстро насыщается — уже при DLI около 6 моль достигается порядка 85 процентов максимального урожая, а дальнейшее удвоение дозы прибавки практически не даёт. Удельный выход товарной массы у умеренного варианта — около 0,93 грамма на ватт против 0,20 при максимальной мощности, разница в 4–5 раз. При этом сильный свет снижает содержание нитратов и повышает сухое вещество. Практический вывод — умеренные световые режимы энергетически выгодны, и это прямой вклад платформы в цель 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фактической истории выполнен воспроизводимый baseline ML-эксперимент — прогноз температуры, влажности и CO2 на горизонтах 10 и 30 минут с временным разделением выборки. Сравнивались прогноз последним значением, скользящее среднее и ridge-регрессия с лаговыми признаками и состояниями реле. Микроклимат инерционен, поэтому persistence — сильный baseline с R² выше 0,9. Ridge-регрессия улучшила RMSE и R² для температуры и влажности, но не превзошла baseline для CO2. Вывод честный: датасет пригоден для ML-постановки, а для устойчивого прогнозного управления нужны дополнительные признаки — наружный климат, освещённость, точные состояния каналов.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Выводы. Цель работы достигнута: создан и опытно внедрён прототип расширяемой IoT/ML-платформы, обеспечивающий подключение разнородных датчиков, управление исполнительными устройствами, журналирование истории и подготовку данных для машинного обучения. Профильный теплотехнический результат — численно замкнутый и проверенный по данным тепловой баланс бокса. Получены практические рекомендации: контроль VPD и усиление увлажнения, умеренные энергоэффективные световые режимы, прогнозная оптимизация нагрева как доминирующей статьи энергопотребления. Работа не заявляет нового ML-алгоритма и автономного управления — машинное обучение остаётся прогнозным слоем над безопасным правиловым контуром. Это и есть путь к цели темы — повышению эффективности выращивания.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внимание!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0" y="0"/>
            <a:ext cx="12228286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920647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40032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 smtClean="0"/>
              <a:t>Образец подзаголовка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67" y="471350"/>
            <a:ext cx="2380493" cy="77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924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FC44D-0704-4EA9-B14D-58F2B3D817C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838200" y="883081"/>
            <a:ext cx="10515600" cy="942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888085" y="-94713"/>
            <a:ext cx="5157787" cy="76578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968926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FC44D-0704-4EA9-B14D-58F2B3D817C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888085" y="-94713"/>
            <a:ext cx="5157787" cy="76578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90965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FC44D-0704-4EA9-B14D-58F2B3D817C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838200" y="883081"/>
            <a:ext cx="10515600" cy="942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888085" y="-94713"/>
            <a:ext cx="5157787" cy="76578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07076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249F0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249F0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FC44D-0704-4EA9-B14D-58F2B3D817C5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838200" y="883081"/>
            <a:ext cx="10515600" cy="942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888085" y="-94713"/>
            <a:ext cx="5157787" cy="76578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468160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FC44D-0704-4EA9-B14D-58F2B3D817C5}" type="slidenum">
              <a:rPr lang="ru-RU" smtClean="0"/>
              <a:t>‹#›</a:t>
            </a:fld>
            <a:endParaRPr lang="ru-RU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838200" y="883081"/>
            <a:ext cx="10515600" cy="942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888085" y="-94713"/>
            <a:ext cx="5157787" cy="76578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2448432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FC44D-0704-4EA9-B14D-58F2B3D817C5}" type="slidenum">
              <a:rPr lang="ru-RU" smtClean="0"/>
              <a:t>‹#›</a:t>
            </a:fld>
            <a:endParaRPr lang="ru-RU"/>
          </a:p>
        </p:txBody>
      </p:sp>
      <p:sp>
        <p:nvSpPr>
          <p:cNvPr id="5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888085" y="-94713"/>
            <a:ext cx="5157787" cy="76578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2129649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318" y="1306741"/>
            <a:ext cx="3932767" cy="106997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717" y="1306742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40318" y="2376716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FC44D-0704-4EA9-B14D-58F2B3D817C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888085" y="-94713"/>
            <a:ext cx="5157787" cy="76578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60309932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929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318" y="1287225"/>
            <a:ext cx="3932767" cy="106997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717" y="12872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40318" y="23572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FC44D-0704-4EA9-B14D-58F2B3D817C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888085" y="-94713"/>
            <a:ext cx="5157787" cy="76578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67914013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FC44D-0704-4EA9-B14D-58F2B3D817C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888085" y="-94713"/>
            <a:ext cx="5157787" cy="76578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Название раздела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838200" y="883081"/>
            <a:ext cx="10515600" cy="942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273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1" y="888641"/>
            <a:ext cx="2628900" cy="5288322"/>
          </a:xfrm>
          <a:prstGeom prst="rect">
            <a:avLst/>
          </a:prstGeo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1" y="888642"/>
            <a:ext cx="7683500" cy="528832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FC44D-0704-4EA9-B14D-58F2B3D817C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888085" y="-94713"/>
            <a:ext cx="5157787" cy="76578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010043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5" name="Заголовок 1"/>
          <p:cNvSpPr txBox="1">
            <a:spLocks/>
          </p:cNvSpPr>
          <p:nvPr userDrawn="1"/>
        </p:nvSpPr>
        <p:spPr>
          <a:xfrm>
            <a:off x="0" y="3078052"/>
            <a:ext cx="12192000" cy="2422204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 smtClean="0">
                <a:solidFill>
                  <a:schemeClr val="bg1"/>
                </a:solidFill>
                <a:latin typeface="+mn-lt"/>
              </a:rPr>
              <a:t>Спасибо за внимание</a:t>
            </a:r>
            <a:endParaRPr lang="ru-RU" sz="40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89566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 smtClean="0"/>
              <a:t>Образец подзаголовка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91D-7452-4A33-8850-7263D87385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93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91D-7452-4A33-8850-7263D87385F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838200" y="360566"/>
            <a:ext cx="10515600" cy="942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867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91D-7452-4A33-8850-7263D87385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8493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91D-7452-4A33-8850-7263D87385FF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838200" y="360566"/>
            <a:ext cx="10515600" cy="942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526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40318" y="1469798"/>
            <a:ext cx="5158316" cy="1035277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249F0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469798"/>
            <a:ext cx="5183717" cy="1035277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249F0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91D-7452-4A33-8850-7263D87385FF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838200" y="360566"/>
            <a:ext cx="10515600" cy="942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3270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91D-7452-4A33-8850-7263D87385FF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838200" y="360566"/>
            <a:ext cx="10515600" cy="942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2735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91D-7452-4A33-8850-7263D87385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8173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318" y="754743"/>
            <a:ext cx="4109053" cy="130265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38057" y="754744"/>
            <a:ext cx="6217860" cy="510630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410905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91D-7452-4A33-8850-7263D87385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5073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318" y="783771"/>
            <a:ext cx="4065511" cy="12736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094514" y="783772"/>
            <a:ext cx="6261403" cy="50772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406551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91D-7452-4A33-8850-7263D87385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43120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Relationship Id="rId1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theme" Target="../theme/theme2.xml"/><Relationship Id="rId11" Type="http://schemas.openxmlformats.org/officeDocument/2006/relationships/image" Target="../media/image6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110FC44D-0704-4EA9-B14D-58F2B3D817C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object 4"/>
          <p:cNvSpPr/>
          <p:nvPr userDrawn="1"/>
        </p:nvSpPr>
        <p:spPr>
          <a:xfrm>
            <a:off x="0" y="327"/>
            <a:ext cx="12192000" cy="747818"/>
          </a:xfrm>
          <a:custGeom>
            <a:avLst/>
            <a:gdLst/>
            <a:ahLst/>
            <a:cxnLst/>
            <a:rect l="l" t="t" r="r" b="b"/>
            <a:pathLst>
              <a:path w="5904230" h="546735">
                <a:moveTo>
                  <a:pt x="0" y="546181"/>
                </a:moveTo>
                <a:lnTo>
                  <a:pt x="0" y="0"/>
                </a:lnTo>
                <a:lnTo>
                  <a:pt x="5903852" y="0"/>
                </a:lnTo>
                <a:lnTo>
                  <a:pt x="5903852" y="546181"/>
                </a:lnTo>
                <a:lnTo>
                  <a:pt x="0" y="546181"/>
                </a:lnTo>
                <a:close/>
              </a:path>
            </a:pathLst>
          </a:custGeom>
          <a:solidFill>
            <a:srgbClr val="3AB711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838200" y="883081"/>
            <a:ext cx="10515600" cy="942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286" y="166475"/>
            <a:ext cx="1418244" cy="46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054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2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249F0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317623"/>
            <a:ext cx="10515600" cy="4850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1391D-7452-4A33-8850-7263D87385F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838200" y="375080"/>
            <a:ext cx="10515600" cy="942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89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249F0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005840" y="2148840"/>
            <a:ext cx="10177272" cy="342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D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148840"/>
            <a:ext cx="10177272" cy="128016"/>
          </a:xfrm>
          <a:prstGeom prst="roundRect">
            <a:avLst/>
          </a:prstGeom>
          <a:solidFill>
            <a:srgbClr val="3AB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9445752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247A0C"/>
                </a:solidFill>
                <a:latin typeface="Calibri"/>
              </a:rPr>
              <a:t>Разработка и внедрение интеллектуальной системы управления</a:t>
            </a:r>
          </a:p>
          <a:p>
            <a:pPr algn="ctr"/>
            <a:r>
              <a:rPr sz="2100" b="1" i="0">
                <a:solidFill>
                  <a:srgbClr val="247A0C"/>
                </a:solidFill>
                <a:latin typeface="Calibri"/>
              </a:rPr>
              <a:t>микроклиматом в теплице на основе машинного обучения</a:t>
            </a:r>
          </a:p>
          <a:p>
            <a:pPr algn="ctr"/>
            <a:r>
              <a:rPr sz="2100" b="1" i="0">
                <a:solidFill>
                  <a:srgbClr val="247A0C"/>
                </a:solidFill>
                <a:latin typeface="Calibri"/>
              </a:rPr>
              <a:t>для повышения эффективности выращивания растений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60520"/>
            <a:ext cx="9445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12121"/>
                </a:solidFill>
                <a:latin typeface="Calibri"/>
              </a:rPr>
              <a:t>Выпускная квалификационная работа магистра</a:t>
            </a:r>
          </a:p>
          <a:p>
            <a:pPr algn="ctr"/>
            <a:r>
              <a:rPr sz="1250" b="0" i="0">
                <a:solidFill>
                  <a:srgbClr val="606A62"/>
                </a:solidFill>
                <a:latin typeface="Calibri"/>
              </a:rPr>
              <a:t>Направление 13.04.01 «Теплоэнергетика и теплотехника»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9377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06A62"/>
                </a:solidFill>
                <a:latin typeface="Calibri"/>
              </a:rPr>
              <a:t>Выполнил</a:t>
            </a:r>
          </a:p>
          <a:p>
            <a:pPr algn="l"/>
            <a:r>
              <a:rPr sz="1450" b="1" i="0">
                <a:solidFill>
                  <a:srgbClr val="212121"/>
                </a:solidFill>
                <a:latin typeface="Calibri"/>
              </a:rPr>
              <a:t>Ларионов Сергей Иванович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49377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06A62"/>
                </a:solidFill>
                <a:latin typeface="Calibri"/>
              </a:rPr>
              <a:t>Научный руководитель</a:t>
            </a:r>
          </a:p>
          <a:p>
            <a:pPr algn="r"/>
            <a:r>
              <a:rPr sz="1450" b="1" i="0">
                <a:solidFill>
                  <a:srgbClr val="212121"/>
                </a:solidFill>
                <a:latin typeface="Calibri"/>
              </a:rPr>
              <a:t>к.т.н., доцент Гулин С. 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89320"/>
            <a:ext cx="9445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47A0C"/>
                </a:solidFill>
                <a:latin typeface="Calibri"/>
              </a:rPr>
              <a:t>Санкт-Петербург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47A0C"/>
                </a:solidFill>
                <a:latin typeface="Calibri"/>
              </a:rPr>
              <a:t>Актуальность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8595360" cy="3566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0"/>
              </a:spcAft>
            </a:pPr>
            <a:r>
              <a:rPr sz="2200" b="1">
                <a:solidFill>
                  <a:srgbClr val="3AB711"/>
                </a:solidFill>
                <a:latin typeface="Calibri"/>
              </a:rPr>
              <a:t>▪  </a:t>
            </a:r>
            <a:r>
              <a:rPr sz="2200">
                <a:solidFill>
                  <a:srgbClr val="212121"/>
                </a:solidFill>
                <a:latin typeface="Calibri"/>
              </a:rPr>
              <a:t>Микроклимат теплицы — связанные, инерционные процессы</a:t>
            </a:r>
          </a:p>
          <a:p>
            <a:pPr>
              <a:spcBef>
                <a:spcPts val="0"/>
              </a:spcBef>
              <a:spcAft>
                <a:spcPts val="3000"/>
              </a:spcAft>
            </a:pPr>
            <a:r>
              <a:rPr sz="2200" b="1">
                <a:solidFill>
                  <a:srgbClr val="3AB711"/>
                </a:solidFill>
                <a:latin typeface="Calibri"/>
              </a:rPr>
              <a:t>▪  </a:t>
            </a:r>
            <a:r>
              <a:rPr sz="2200">
                <a:solidFill>
                  <a:srgbClr val="212121"/>
                </a:solidFill>
                <a:latin typeface="Calibri"/>
              </a:rPr>
              <a:t>Пороговое и ручное управление запаздывает</a:t>
            </a:r>
          </a:p>
          <a:p>
            <a:pPr>
              <a:spcBef>
                <a:spcPts val="0"/>
              </a:spcBef>
              <a:spcAft>
                <a:spcPts val="3000"/>
              </a:spcAft>
            </a:pPr>
            <a:r>
              <a:rPr sz="2200" b="1">
                <a:solidFill>
                  <a:srgbClr val="3AB711"/>
                </a:solidFill>
                <a:latin typeface="Calibri"/>
              </a:rPr>
              <a:t>▪  </a:t>
            </a:r>
            <a:r>
              <a:rPr sz="2200">
                <a:solidFill>
                  <a:srgbClr val="212121"/>
                </a:solidFill>
                <a:latin typeface="Calibri"/>
              </a:rPr>
              <a:t>Нагрев, вентиляция, свет — крупные энергозатраты</a:t>
            </a:r>
          </a:p>
          <a:p>
            <a:pPr>
              <a:spcBef>
                <a:spcPts val="0"/>
              </a:spcBef>
              <a:spcAft>
                <a:spcPts val="3000"/>
              </a:spcAft>
            </a:pPr>
            <a:r>
              <a:rPr sz="2200" b="1">
                <a:solidFill>
                  <a:srgbClr val="3AB711"/>
                </a:solidFill>
                <a:latin typeface="Calibri"/>
              </a:rPr>
              <a:t>▪  </a:t>
            </a:r>
            <a:r>
              <a:rPr sz="2200">
                <a:solidFill>
                  <a:srgbClr val="212121"/>
                </a:solidFill>
                <a:latin typeface="Calibri"/>
              </a:rPr>
              <a:t>Решение — расширяемая IoT/ML-платформа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47A0C"/>
                </a:solidFill>
                <a:latin typeface="Calibri"/>
              </a:rPr>
              <a:t>Цель и задачи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2148840"/>
            <a:ext cx="45720" cy="1051560"/>
          </a:xfrm>
          <a:prstGeom prst="rect">
            <a:avLst/>
          </a:prstGeom>
          <a:solidFill>
            <a:srgbClr val="2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6984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47A0C"/>
                </a:solidFill>
                <a:latin typeface="Calibri"/>
              </a:rPr>
              <a:t>Цель</a:t>
            </a:r>
          </a:p>
          <a:p>
            <a:pPr algn="l"/>
            <a:r>
              <a:rPr sz="1600" b="0" i="0">
                <a:solidFill>
                  <a:srgbClr val="212121"/>
                </a:solidFill>
                <a:latin typeface="Calibri"/>
              </a:rPr>
              <a:t>Разработать и внедрить расширяемую IoT/ML-платформу мониторинга и управления тепловлажностным режимом теплицы: подключение разнородных датчиков, управление исполнительными устройствами, накопление истории и применение машинного обучения.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611880"/>
            <a:ext cx="10908792" cy="13716"/>
          </a:xfrm>
          <a:prstGeom prst="rect">
            <a:avLst/>
          </a:prstGeom>
          <a:solidFill>
            <a:srgbClr val="C9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47A0C"/>
                </a:solidFill>
                <a:latin typeface="Calibri"/>
              </a:rPr>
              <a:t>Задачи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108813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47A0C"/>
                </a:solidFill>
                <a:latin typeface="Calibri"/>
              </a:rPr>
              <a:t>1.  </a:t>
            </a:r>
            <a:r>
              <a:rPr sz="1600">
                <a:solidFill>
                  <a:srgbClr val="212121"/>
                </a:solidFill>
                <a:latin typeface="Calibri"/>
              </a:rPr>
              <a:t>Анализ современных подходов к автоматизации и прогнозу микроклимата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47A0C"/>
                </a:solidFill>
                <a:latin typeface="Calibri"/>
              </a:rPr>
              <a:t>2.  </a:t>
            </a:r>
            <a:r>
              <a:rPr sz="1600">
                <a:solidFill>
                  <a:srgbClr val="212121"/>
                </a:solidFill>
                <a:latin typeface="Calibri"/>
              </a:rPr>
              <a:t>Определение требований к расширяемой системе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47A0C"/>
                </a:solidFill>
                <a:latin typeface="Calibri"/>
              </a:rPr>
              <a:t>3.  </a:t>
            </a:r>
            <a:r>
              <a:rPr sz="1600">
                <a:solidFill>
                  <a:srgbClr val="212121"/>
                </a:solidFill>
                <a:latin typeface="Calibri"/>
              </a:rPr>
              <a:t>Проектирование архитектуры на базе микроконтроллеров и MQTT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47A0C"/>
                </a:solidFill>
                <a:latin typeface="Calibri"/>
              </a:rPr>
              <a:t>4.  </a:t>
            </a:r>
            <a:r>
              <a:rPr sz="1600">
                <a:solidFill>
                  <a:srgbClr val="212121"/>
                </a:solidFill>
                <a:latin typeface="Calibri"/>
              </a:rPr>
              <a:t>Реализация программно-аппаратного контура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47A0C"/>
                </a:solidFill>
                <a:latin typeface="Calibri"/>
              </a:rPr>
              <a:t>5.  </a:t>
            </a:r>
            <a:r>
              <a:rPr sz="1600">
                <a:solidFill>
                  <a:srgbClr val="212121"/>
                </a:solidFill>
                <a:latin typeface="Calibri"/>
              </a:rPr>
              <a:t>Подготовка основы интеллектуального (ML) слоя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47A0C"/>
                </a:solidFill>
                <a:latin typeface="Calibri"/>
              </a:rPr>
              <a:t>6.  </a:t>
            </a:r>
            <a:r>
              <a:rPr sz="1600">
                <a:solidFill>
                  <a:srgbClr val="212121"/>
                </a:solidFill>
                <a:latin typeface="Calibri"/>
              </a:rPr>
              <a:t>Опытное внедрение и формирование датасета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47A0C"/>
                </a:solidFill>
                <a:latin typeface="Calibri"/>
              </a:rPr>
              <a:t>Аналитический обзор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200"/>
              </a:spcAft>
            </a:pPr>
            <a:r>
              <a:rPr sz="2000" b="1">
                <a:solidFill>
                  <a:srgbClr val="3AB711"/>
                </a:solidFill>
                <a:latin typeface="Calibri"/>
              </a:rPr>
              <a:t>—  </a:t>
            </a:r>
            <a:r>
              <a:rPr sz="2000" b="1">
                <a:solidFill>
                  <a:srgbClr val="1B5E20"/>
                </a:solidFill>
                <a:latin typeface="Calibri"/>
              </a:rPr>
              <a:t>IoT / smart greenhouse</a:t>
            </a:r>
            <a:r>
              <a:rPr sz="2000">
                <a:solidFill>
                  <a:srgbClr val="212121"/>
                </a:solidFill>
                <a:latin typeface="Calibri"/>
              </a:rPr>
              <a:t>  — датчики, MQTT, единый сбор данных</a:t>
            </a:r>
          </a:p>
          <a:p>
            <a:pPr>
              <a:spcBef>
                <a:spcPts val="0"/>
              </a:spcBef>
              <a:spcAft>
                <a:spcPts val="2200"/>
              </a:spcAft>
            </a:pPr>
            <a:r>
              <a:rPr sz="2000" b="1">
                <a:solidFill>
                  <a:srgbClr val="3AB711"/>
                </a:solidFill>
                <a:latin typeface="Calibri"/>
              </a:rPr>
              <a:t>—  </a:t>
            </a:r>
            <a:r>
              <a:rPr sz="2000" b="1">
                <a:solidFill>
                  <a:srgbClr val="1B5E20"/>
                </a:solidFill>
                <a:latin typeface="Calibri"/>
              </a:rPr>
              <a:t>Прогноз по данным</a:t>
            </a:r>
            <a:r>
              <a:rPr sz="2000">
                <a:solidFill>
                  <a:srgbClr val="212121"/>
                </a:solidFill>
                <a:latin typeface="Calibri"/>
              </a:rPr>
              <a:t>  — нейросети для рядов: LSTM, Transformer</a:t>
            </a:r>
          </a:p>
          <a:p>
            <a:pPr>
              <a:spcBef>
                <a:spcPts val="0"/>
              </a:spcBef>
              <a:spcAft>
                <a:spcPts val="2200"/>
              </a:spcAft>
            </a:pPr>
            <a:r>
              <a:rPr sz="2000" b="1">
                <a:solidFill>
                  <a:srgbClr val="3AB711"/>
                </a:solidFill>
                <a:latin typeface="Calibri"/>
              </a:rPr>
              <a:t>—  </a:t>
            </a:r>
            <a:r>
              <a:rPr sz="2000" b="1">
                <a:solidFill>
                  <a:srgbClr val="1B5E20"/>
                </a:solidFill>
                <a:latin typeface="Calibri"/>
              </a:rPr>
              <a:t>Управление</a:t>
            </a:r>
            <a:r>
              <a:rPr sz="2000">
                <a:solidFill>
                  <a:srgbClr val="212121"/>
                </a:solidFill>
                <a:latin typeface="Calibri"/>
              </a:rPr>
              <a:t>  — PID, MPC, обучение с подкреплением</a:t>
            </a:r>
          </a:p>
          <a:p>
            <a:pPr>
              <a:spcBef>
                <a:spcPts val="0"/>
              </a:spcBef>
              <a:spcAft>
                <a:spcPts val="2200"/>
              </a:spcAft>
            </a:pPr>
            <a:r>
              <a:rPr sz="2000" b="1">
                <a:solidFill>
                  <a:srgbClr val="3AB711"/>
                </a:solidFill>
                <a:latin typeface="Calibri"/>
              </a:rPr>
              <a:t>—  </a:t>
            </a:r>
            <a:r>
              <a:rPr sz="2000" b="1">
                <a:solidFill>
                  <a:srgbClr val="1B5E20"/>
                </a:solidFill>
                <a:latin typeface="Calibri"/>
              </a:rPr>
              <a:t>Энергоэффективность</a:t>
            </a:r>
            <a:r>
              <a:rPr sz="2000">
                <a:solidFill>
                  <a:srgbClr val="212121"/>
                </a:solidFill>
                <a:latin typeface="Calibri"/>
              </a:rPr>
              <a:t>  — упреждающее управление, меньше потерь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146304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44068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7A0C"/>
                </a:solidFill>
                <a:latin typeface="Calibri"/>
              </a:rPr>
              <a:t>Разрыв:  </a:t>
            </a:r>
            <a:r>
              <a:rPr sz="1700" b="0" i="0">
                <a:solidFill>
                  <a:srgbClr val="212121"/>
                </a:solidFill>
                <a:latin typeface="Calibri"/>
              </a:rPr>
              <a:t>методы не доведены до реальной малой теплицы с журналированием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47A0C"/>
                </a:solidFill>
                <a:latin typeface="Calibri"/>
              </a:rPr>
              <a:t>Объект, предмет, новизна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—  </a:t>
            </a:r>
            <a:r>
              <a:rPr sz="1800" b="1">
                <a:solidFill>
                  <a:srgbClr val="1B5E20"/>
                </a:solidFill>
                <a:latin typeface="Calibri"/>
              </a:rPr>
              <a:t>Объект</a:t>
            </a:r>
            <a:r>
              <a:rPr sz="1800">
                <a:solidFill>
                  <a:srgbClr val="212121"/>
                </a:solidFill>
                <a:latin typeface="Calibri"/>
              </a:rPr>
              <a:t>  — тепловлажностный режим теплицы (киберфизическая система)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—  </a:t>
            </a:r>
            <a:r>
              <a:rPr sz="1800" b="1">
                <a:solidFill>
                  <a:srgbClr val="1B5E20"/>
                </a:solidFill>
                <a:latin typeface="Calibri"/>
              </a:rPr>
              <a:t>Предмет</a:t>
            </a:r>
            <a:r>
              <a:rPr sz="1800">
                <a:solidFill>
                  <a:srgbClr val="212121"/>
                </a:solidFill>
                <a:latin typeface="Calibri"/>
              </a:rPr>
              <a:t>  — средства мониторинга и управления микроклиматом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06A62"/>
                </a:solidFill>
                <a:latin typeface="Calibri"/>
              </a:rPr>
              <a:t>Новизна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7899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▪  </a:t>
            </a:r>
            <a:r>
              <a:rPr sz="1800">
                <a:solidFill>
                  <a:srgbClr val="212121"/>
                </a:solidFill>
                <a:latin typeface="Calibri"/>
              </a:rPr>
              <a:t>Единый контур вместо «датчик – реле – панель»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▪  </a:t>
            </a:r>
            <a:r>
              <a:rPr sz="1800">
                <a:solidFill>
                  <a:srgbClr val="212121"/>
                </a:solidFill>
                <a:latin typeface="Calibri"/>
              </a:rPr>
              <a:t>Разнородные датчики — общая модель данных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▪  </a:t>
            </a:r>
            <a:r>
              <a:rPr sz="1800">
                <a:solidFill>
                  <a:srgbClr val="212121"/>
                </a:solidFill>
                <a:latin typeface="Calibri"/>
              </a:rPr>
              <a:t>Воздействия журналируются вместе с климатом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▪  </a:t>
            </a:r>
            <a:r>
              <a:rPr sz="1800">
                <a:solidFill>
                  <a:srgbClr val="212121"/>
                </a:solidFill>
                <a:latin typeface="Calibri"/>
              </a:rPr>
              <a:t>История → ML-прогноз реакции теплицы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47A0C"/>
                </a:solidFill>
                <a:latin typeface="Calibri"/>
              </a:rPr>
              <a:t>Архитектура платформы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780351" y="1975104"/>
            <a:ext cx="6120257" cy="4187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927" y="2011680"/>
            <a:ext cx="6047105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2377440"/>
            <a:ext cx="4206240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700"/>
              </a:spcAft>
            </a:pPr>
            <a:r>
              <a:rPr sz="1700" b="1">
                <a:solidFill>
                  <a:srgbClr val="3AB711"/>
                </a:solidFill>
                <a:latin typeface="Calibri"/>
              </a:rPr>
              <a:t>▪  </a:t>
            </a:r>
            <a:r>
              <a:rPr sz="1700">
                <a:solidFill>
                  <a:srgbClr val="212121"/>
                </a:solidFill>
                <a:latin typeface="Calibri"/>
              </a:rPr>
              <a:t>Датчики ESP8266 (DHT11, SCD30)</a:t>
            </a:r>
          </a:p>
          <a:p>
            <a:pPr>
              <a:spcBef>
                <a:spcPts val="0"/>
              </a:spcBef>
              <a:spcAft>
                <a:spcPts val="1700"/>
              </a:spcAft>
            </a:pPr>
            <a:r>
              <a:rPr sz="1700" b="1">
                <a:solidFill>
                  <a:srgbClr val="3AB711"/>
                </a:solidFill>
                <a:latin typeface="Calibri"/>
              </a:rPr>
              <a:t>▪  </a:t>
            </a:r>
            <a:r>
              <a:rPr sz="1700">
                <a:solidFill>
                  <a:srgbClr val="212121"/>
                </a:solidFill>
                <a:latin typeface="Calibri"/>
              </a:rPr>
              <a:t>Контроллер Arduino Mega — 15 реле</a:t>
            </a:r>
          </a:p>
          <a:p>
            <a:pPr>
              <a:spcBef>
                <a:spcPts val="0"/>
              </a:spcBef>
              <a:spcAft>
                <a:spcPts val="1700"/>
              </a:spcAft>
            </a:pPr>
            <a:r>
              <a:rPr sz="1700" b="1">
                <a:solidFill>
                  <a:srgbClr val="3AB711"/>
                </a:solidFill>
                <a:latin typeface="Calibri"/>
              </a:rPr>
              <a:t>▪  </a:t>
            </a:r>
            <a:r>
              <a:rPr sz="1700">
                <a:solidFill>
                  <a:srgbClr val="212121"/>
                </a:solidFill>
                <a:latin typeface="Calibri"/>
              </a:rPr>
              <a:t>Брокер MQTT (Mosquitto)</a:t>
            </a:r>
          </a:p>
          <a:p>
            <a:pPr>
              <a:spcBef>
                <a:spcPts val="0"/>
              </a:spcBef>
              <a:spcAft>
                <a:spcPts val="1700"/>
              </a:spcAft>
            </a:pPr>
            <a:r>
              <a:rPr sz="1700" b="1">
                <a:solidFill>
                  <a:srgbClr val="3AB711"/>
                </a:solidFill>
                <a:latin typeface="Calibri"/>
              </a:rPr>
              <a:t>▪  </a:t>
            </a:r>
            <a:r>
              <a:rPr sz="1700">
                <a:solidFill>
                  <a:srgbClr val="212121"/>
                </a:solidFill>
                <a:latin typeface="Calibri"/>
              </a:rPr>
              <a:t>Панель Flask, правила, SQLite</a:t>
            </a:r>
          </a:p>
          <a:p>
            <a:pPr>
              <a:spcBef>
                <a:spcPts val="0"/>
              </a:spcBef>
              <a:spcAft>
                <a:spcPts val="1700"/>
              </a:spcAft>
            </a:pPr>
            <a:r>
              <a:rPr sz="1700" b="1">
                <a:solidFill>
                  <a:srgbClr val="3AB711"/>
                </a:solidFill>
                <a:latin typeface="Calibri"/>
              </a:rPr>
              <a:t>▪  </a:t>
            </a:r>
            <a:r>
              <a:rPr sz="1700">
                <a:solidFill>
                  <a:srgbClr val="212121"/>
                </a:solidFill>
                <a:latin typeface="Calibri"/>
              </a:rPr>
              <a:t>Команда ≠ подтверждённое состояние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47A0C"/>
                </a:solidFill>
                <a:latin typeface="Calibri"/>
              </a:rPr>
              <a:t>Реализация контура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1189509" y="2066543"/>
            <a:ext cx="4204660" cy="3182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trol_cabin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085" y="2103120"/>
            <a:ext cx="4131508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10908" y="2066543"/>
            <a:ext cx="4791862" cy="3182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484" y="2103120"/>
            <a:ext cx="471871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852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06A62"/>
                </a:solidFill>
                <a:latin typeface="Calibri"/>
              </a:rPr>
              <a:t>Шкаф управления и силовые реле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28523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06A62"/>
                </a:solidFill>
                <a:latin typeface="Calibri"/>
              </a:rPr>
              <a:t>Web-панель оператора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AB711"/>
                </a:solidFill>
                <a:latin typeface="Calibri"/>
              </a:rPr>
              <a:t>▪  </a:t>
            </a:r>
            <a:r>
              <a:rPr sz="1500">
                <a:solidFill>
                  <a:srgbClr val="212121"/>
                </a:solidFill>
                <a:latin typeface="Calibri"/>
              </a:rPr>
              <a:t>Датчики → MQTT · реле 30 А, ТЭНы через пускатели · панель: правила и профили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47A0C"/>
                </a:solidFill>
                <a:latin typeface="Calibri"/>
              </a:rPr>
              <a:t>Опытное внедрение и датасет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615184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615184" cy="109728"/>
          </a:xfrm>
          <a:prstGeom prst="roundRect">
            <a:avLst/>
          </a:prstGeom>
          <a:solidFill>
            <a:srgbClr val="3AB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04288"/>
            <a:ext cx="243230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47A0C"/>
                </a:solidFill>
                <a:latin typeface="Calibri"/>
              </a:rPr>
              <a:t>24 м³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243230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06A62"/>
                </a:solidFill>
                <a:latin typeface="Calibri"/>
              </a:rPr>
              <a:t>опытный бокс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2103120"/>
            <a:ext cx="2615184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10128" y="2103120"/>
            <a:ext cx="2615184" cy="109728"/>
          </a:xfrm>
          <a:prstGeom prst="roundRect">
            <a:avLst/>
          </a:prstGeom>
          <a:solidFill>
            <a:srgbClr val="3AB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2304288"/>
            <a:ext cx="243230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47A0C"/>
                </a:solidFill>
                <a:latin typeface="Calibri"/>
              </a:rPr>
              <a:t>58 сут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880360"/>
            <a:ext cx="243230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06A62"/>
                </a:solidFill>
                <a:latin typeface="Calibri"/>
              </a:rPr>
              <a:t>28.03 – 26.05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103120"/>
            <a:ext cx="2615184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71616" y="2103120"/>
            <a:ext cx="2615184" cy="109728"/>
          </a:xfrm>
          <a:prstGeom prst="roundRect">
            <a:avLst/>
          </a:prstGeom>
          <a:solidFill>
            <a:srgbClr val="3AB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5" y="2304288"/>
            <a:ext cx="243230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47A0C"/>
                </a:solidFill>
                <a:latin typeface="Calibri"/>
              </a:rPr>
              <a:t>244 000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5" y="2880360"/>
            <a:ext cx="243230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06A62"/>
                </a:solidFill>
                <a:latin typeface="Calibri"/>
              </a:rPr>
              <a:t>записей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2103120"/>
            <a:ext cx="26243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33104" y="2103120"/>
            <a:ext cx="2624328" cy="109728"/>
          </a:xfrm>
          <a:prstGeom prst="roundRect">
            <a:avLst/>
          </a:prstGeom>
          <a:solidFill>
            <a:srgbClr val="3AB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24544" y="2304288"/>
            <a:ext cx="24414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47A0C"/>
                </a:solidFill>
                <a:latin typeface="Calibri"/>
              </a:rPr>
              <a:t>165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2880360"/>
            <a:ext cx="2441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06A62"/>
                </a:solidFill>
                <a:latin typeface="Calibri"/>
              </a:rPr>
              <a:t>событий реле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03320"/>
            <a:ext cx="6949440" cy="2468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200"/>
              </a:spcAft>
            </a:pPr>
            <a:r>
              <a:rPr sz="1900" b="1">
                <a:solidFill>
                  <a:srgbClr val="3AB711"/>
                </a:solidFill>
                <a:latin typeface="Calibri"/>
              </a:rPr>
              <a:t>▪  </a:t>
            </a:r>
            <a:r>
              <a:rPr sz="1900">
                <a:solidFill>
                  <a:srgbClr val="212121"/>
                </a:solidFill>
                <a:latin typeface="Calibri"/>
              </a:rPr>
              <a:t>Реальный бокс: гидропоника, LED-фитосвет</a:t>
            </a:r>
          </a:p>
          <a:p>
            <a:pPr>
              <a:spcBef>
                <a:spcPts val="0"/>
              </a:spcBef>
              <a:spcAft>
                <a:spcPts val="2200"/>
              </a:spcAft>
            </a:pPr>
            <a:r>
              <a:rPr sz="1900" b="1">
                <a:solidFill>
                  <a:srgbClr val="3AB711"/>
                </a:solidFill>
                <a:latin typeface="Calibri"/>
              </a:rPr>
              <a:t>▪  </a:t>
            </a:r>
            <a:r>
              <a:rPr sz="1900">
                <a:solidFill>
                  <a:srgbClr val="212121"/>
                </a:solidFill>
                <a:latin typeface="Calibri"/>
              </a:rPr>
              <a:t>История с Raspberry Pi (датчики + реле)</a:t>
            </a:r>
          </a:p>
          <a:p>
            <a:pPr>
              <a:spcBef>
                <a:spcPts val="0"/>
              </a:spcBef>
              <a:spcAft>
                <a:spcPts val="2200"/>
              </a:spcAft>
            </a:pPr>
            <a:r>
              <a:rPr sz="1900" b="1">
                <a:solidFill>
                  <a:srgbClr val="3AB711"/>
                </a:solidFill>
                <a:latin typeface="Calibri"/>
              </a:rPr>
              <a:t>▪  </a:t>
            </a:r>
            <a:r>
              <a:rPr sz="1900">
                <a:solidFill>
                  <a:srgbClr val="212121"/>
                </a:solidFill>
                <a:latin typeface="Calibri"/>
              </a:rPr>
              <a:t>Готовый датасет для анализа и 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6795" y="3438144"/>
            <a:ext cx="2137410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greenhouse_ov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371" y="3474720"/>
            <a:ext cx="2064257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47A0C"/>
                </a:solidFill>
                <a:latin typeface="Calibri"/>
              </a:rPr>
              <a:t>Динамика и градиент датчиков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20624" y="2123774"/>
            <a:ext cx="6931152" cy="3982051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daily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60350"/>
            <a:ext cx="6858000" cy="39088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2560320"/>
            <a:ext cx="4206240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▪  </a:t>
            </a:r>
            <a:r>
              <a:rPr sz="1800">
                <a:solidFill>
                  <a:srgbClr val="212121"/>
                </a:solidFill>
                <a:latin typeface="Calibri"/>
              </a:rPr>
              <a:t>Суточный ход T: 2,6–3,1 °C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▪  </a:t>
            </a:r>
            <a:r>
              <a:rPr sz="1800">
                <a:solidFill>
                  <a:srgbClr val="212121"/>
                </a:solidFill>
                <a:latin typeface="Calibri"/>
              </a:rPr>
              <a:t>Разброс датчиков до 4,9 °C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▪  </a:t>
            </a:r>
            <a:r>
              <a:rPr sz="1800">
                <a:solidFill>
                  <a:srgbClr val="212121"/>
                </a:solidFill>
                <a:latin typeface="Calibri"/>
              </a:rPr>
              <a:t>Это градиент, а не погрешность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▪  </a:t>
            </a:r>
            <a:r>
              <a:rPr sz="1800">
                <a:solidFill>
                  <a:srgbClr val="212121"/>
                </a:solidFill>
                <a:latin typeface="Calibri"/>
              </a:rPr>
              <a:t>Ночью реле не работают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47A0C"/>
                </a:solidFill>
                <a:latin typeface="Calibri"/>
              </a:rPr>
              <a:t>Тепловлажностный режим (VPD)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20624" y="2110585"/>
            <a:ext cx="6931152" cy="40084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vp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7161"/>
            <a:ext cx="6858000" cy="39352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2743200"/>
            <a:ext cx="420624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2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▪  </a:t>
            </a:r>
            <a:r>
              <a:rPr sz="1800">
                <a:solidFill>
                  <a:srgbClr val="212121"/>
                </a:solidFill>
                <a:latin typeface="Calibri"/>
              </a:rPr>
              <a:t>VPD 2,3–2,7 кПа (норма 0,8–1,2)</a:t>
            </a:r>
          </a:p>
          <a:p>
            <a:pPr>
              <a:spcBef>
                <a:spcPts val="0"/>
              </a:spcBef>
              <a:spcAft>
                <a:spcPts val="22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▪  </a:t>
            </a:r>
            <a:r>
              <a:rPr sz="1800">
                <a:solidFill>
                  <a:srgbClr val="212121"/>
                </a:solidFill>
                <a:latin typeface="Calibri"/>
              </a:rPr>
              <a:t>Почти всё время выше нормы</a:t>
            </a:r>
          </a:p>
          <a:p>
            <a:pPr>
              <a:spcBef>
                <a:spcPts val="0"/>
              </a:spcBef>
              <a:spcAft>
                <a:spcPts val="22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▪  </a:t>
            </a:r>
            <a:r>
              <a:rPr sz="1800">
                <a:solidFill>
                  <a:srgbClr val="212121"/>
                </a:solidFill>
                <a:latin typeface="Calibri"/>
              </a:rPr>
              <a:t>Нужно увлажнение 2–12 л/ч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47A0C"/>
                </a:solidFill>
                <a:latin typeface="Calibri"/>
              </a:rPr>
              <a:t>Теплотехническая модель бокса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20999" y="2066543"/>
            <a:ext cx="6747520" cy="40965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thermal_inert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75" y="2103120"/>
            <a:ext cx="6674368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2560320"/>
            <a:ext cx="4389120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▪  </a:t>
            </a:r>
            <a:r>
              <a:rPr sz="1800">
                <a:solidFill>
                  <a:srgbClr val="212121"/>
                </a:solidFill>
                <a:latin typeface="Calibri"/>
              </a:rPr>
              <a:t>Ночное остывание → RC-модель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▪  </a:t>
            </a:r>
            <a:r>
              <a:rPr sz="1800">
                <a:solidFill>
                  <a:srgbClr val="212121"/>
                </a:solidFill>
                <a:latin typeface="Calibri"/>
              </a:rPr>
              <a:t>τ ≈ 9–10 ч, Cэфф ≈ 3,8 МДж/К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▪  </a:t>
            </a:r>
            <a:r>
              <a:rPr sz="1800">
                <a:solidFill>
                  <a:srgbClr val="212121"/>
                </a:solidFill>
                <a:latin typeface="Calibri"/>
              </a:rPr>
              <a:t>Нагрев 12 кВт обоснован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800" b="1">
                <a:solidFill>
                  <a:srgbClr val="3AB711"/>
                </a:solidFill>
                <a:latin typeface="Calibri"/>
              </a:rPr>
              <a:t>▪  </a:t>
            </a:r>
            <a:r>
              <a:rPr sz="1800">
                <a:solidFill>
                  <a:srgbClr val="212121"/>
                </a:solidFill>
                <a:latin typeface="Calibri"/>
              </a:rPr>
              <a:t>Баланс проверен по данным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47A0C"/>
                </a:solidFill>
                <a:latin typeface="Calibri"/>
              </a:rPr>
              <a:t>Свет, урожай, энергоэффективность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41452" y="2066543"/>
            <a:ext cx="5563616" cy="3182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light_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28" y="2103120"/>
            <a:ext cx="5490464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35624" y="2078788"/>
            <a:ext cx="5605272" cy="315762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light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15364"/>
            <a:ext cx="5532120" cy="30844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285232"/>
            <a:ext cx="5532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06A62"/>
                </a:solidFill>
                <a:latin typeface="Calibri"/>
              </a:rPr>
              <a:t>Урожай и энергоэффективность от дозы света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5285232"/>
            <a:ext cx="5532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06A62"/>
                </a:solidFill>
                <a:latin typeface="Calibri"/>
              </a:rPr>
              <a:t>Нитраты и сухое вещество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AB711"/>
                </a:solidFill>
                <a:latin typeface="Calibri"/>
              </a:rPr>
              <a:t>▪  </a:t>
            </a:r>
            <a:r>
              <a:rPr sz="1500">
                <a:solidFill>
                  <a:srgbClr val="212121"/>
                </a:solidFill>
                <a:latin typeface="Calibri"/>
              </a:rPr>
              <a:t>Урожай насыщается при DLI ≈ 6 · выход 0,93 vs 0,20 г/Вт · умеренный свет выгоднее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47A0C"/>
                </a:solidFill>
                <a:latin typeface="Calibri"/>
              </a:rPr>
              <a:t>Прогноз (baseline ML)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20624" y="2260956"/>
            <a:ext cx="6016752" cy="3250487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m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97532"/>
            <a:ext cx="5943600" cy="31773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42432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06A62"/>
                </a:solidFill>
                <a:latin typeface="Calibri"/>
              </a:rPr>
              <a:t>RMSE: наивный прогноз vs 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286000"/>
            <a:ext cx="5029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3AB711"/>
                </a:solidFill>
                <a:latin typeface="Calibri"/>
              </a:rPr>
              <a:t>▪  </a:t>
            </a:r>
            <a:r>
              <a:rPr sz="1600">
                <a:solidFill>
                  <a:srgbClr val="212121"/>
                </a:solidFill>
                <a:latin typeface="Calibri"/>
              </a:rPr>
              <a:t>Прогноз T, влажности, CO₂ (10 / 30 мин)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3AB711"/>
                </a:solidFill>
                <a:latin typeface="Calibri"/>
              </a:rPr>
              <a:t>▪  </a:t>
            </a:r>
            <a:r>
              <a:rPr sz="1600">
                <a:solidFill>
                  <a:srgbClr val="212121"/>
                </a:solidFill>
                <a:latin typeface="Calibri"/>
              </a:rPr>
              <a:t>Инерция → persistence силён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3AB711"/>
                </a:solidFill>
                <a:latin typeface="Calibri"/>
              </a:rPr>
              <a:t>▪  </a:t>
            </a:r>
            <a:r>
              <a:rPr sz="1600">
                <a:solidFill>
                  <a:srgbClr val="212121"/>
                </a:solidFill>
                <a:latin typeface="Calibri"/>
              </a:rPr>
              <a:t>Ridge лучше для T и влажности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4160520"/>
          <a:ext cx="50292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25880"/>
                <a:gridCol w="1325880"/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Цель (R²)</a:t>
                      </a:r>
                    </a:p>
                  </a:txBody>
                  <a:tcPr anchor="ctr" marT="25400" marB="25400">
                    <a:solidFill>
                      <a:srgbClr val="247A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10 мин</a:t>
                      </a:r>
                    </a:p>
                  </a:txBody>
                  <a:tcPr anchor="ctr" marT="25400" marB="25400">
                    <a:solidFill>
                      <a:srgbClr val="247A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30 мин</a:t>
                      </a:r>
                    </a:p>
                  </a:txBody>
                  <a:tcPr anchor="ctr" marT="25400" marB="25400">
                    <a:solidFill>
                      <a:srgbClr val="247A0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12121"/>
                          </a:solidFill>
                          <a:latin typeface="Calibri"/>
                        </a:rPr>
                        <a:t>Темп.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0,99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0,96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12121"/>
                          </a:solidFill>
                          <a:latin typeface="Calibri"/>
                        </a:rPr>
                        <a:t>Влажн.</a:t>
                      </a:r>
                    </a:p>
                  </a:txBody>
                  <a:tcPr anchor="ctr" marT="25400" marB="25400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0,99</a:t>
                      </a:r>
                    </a:p>
                  </a:txBody>
                  <a:tcPr anchor="ctr" marT="25400" marB="25400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0,97</a:t>
                      </a:r>
                    </a:p>
                  </a:txBody>
                  <a:tcPr anchor="ctr" marT="25400" marB="25400">
                    <a:solidFill>
                      <a:srgbClr val="EEF3E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12121"/>
                          </a:solidFill>
                          <a:latin typeface="Calibri"/>
                        </a:rPr>
                        <a:t>CO₂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0,97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0,92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47A0C"/>
                </a:solidFill>
                <a:latin typeface="Calibri"/>
              </a:rPr>
              <a:t>Выводы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10908792" cy="960120"/>
          </a:xfrm>
          <a:prstGeom prst="roundRect">
            <a:avLst/>
          </a:prstGeom>
          <a:solidFill>
            <a:srgbClr val="EEF3EE"/>
          </a:solidFill>
          <a:ln w="12700">
            <a:solidFill>
              <a:srgbClr val="CF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146304" cy="960120"/>
          </a:xfrm>
          <a:prstGeom prst="rect">
            <a:avLst/>
          </a:prstGeom>
          <a:solidFill>
            <a:srgbClr val="3AB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10332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47A0C"/>
                </a:solidFill>
                <a:latin typeface="Calibri"/>
              </a:rPr>
              <a:t>Цель достигнута — платформа разработана и опытно внедрена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900" b="1">
                <a:solidFill>
                  <a:srgbClr val="3AB711"/>
                </a:solidFill>
                <a:latin typeface="Calibri"/>
              </a:rPr>
              <a:t>▪  </a:t>
            </a:r>
            <a:r>
              <a:rPr sz="1900">
                <a:solidFill>
                  <a:srgbClr val="212121"/>
                </a:solidFill>
                <a:latin typeface="Calibri"/>
              </a:rPr>
              <a:t>Единый контур: датчики, управление, история, ML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900" b="1">
                <a:solidFill>
                  <a:srgbClr val="3AB711"/>
                </a:solidFill>
                <a:latin typeface="Calibri"/>
              </a:rPr>
              <a:t>▪  </a:t>
            </a:r>
            <a:r>
              <a:rPr sz="1900">
                <a:solidFill>
                  <a:srgbClr val="212121"/>
                </a:solidFill>
                <a:latin typeface="Calibri"/>
              </a:rPr>
              <a:t>Тепловой баланс замкнут и проверен по данным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900" b="1">
                <a:solidFill>
                  <a:srgbClr val="3AB711"/>
                </a:solidFill>
                <a:latin typeface="Calibri"/>
              </a:rPr>
              <a:t>▪  </a:t>
            </a:r>
            <a:r>
              <a:rPr sz="1900">
                <a:solidFill>
                  <a:srgbClr val="212121"/>
                </a:solidFill>
                <a:latin typeface="Calibri"/>
              </a:rPr>
              <a:t>Рекомендации: контроль VPD, умеренный свет, оптимизация нагрева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900" b="1">
                <a:solidFill>
                  <a:srgbClr val="3AB711"/>
                </a:solidFill>
                <a:latin typeface="Calibri"/>
              </a:rPr>
              <a:t>▪  </a:t>
            </a:r>
            <a:r>
              <a:rPr sz="1900">
                <a:solidFill>
                  <a:srgbClr val="212121"/>
                </a:solidFill>
                <a:latin typeface="Calibri"/>
              </a:rPr>
              <a:t>ML — прогнозный слой над безопасными правилами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2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55" id="{32DD7E1C-B564-48EA-817C-F6D428F4E853}" vid="{6B7855CA-284E-45BF-A4DC-3375E7B40662}"/>
    </a:ext>
  </a:extLst>
</a:theme>
</file>

<file path=ppt/theme/theme2.xml><?xml version="1.0" encoding="utf-8"?>
<a:theme xmlns:a="http://schemas.openxmlformats.org/drawingml/2006/main" name="3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55" id="{32DD7E1C-B564-48EA-817C-F6D428F4E853}" vid="{D44BC5B9-1CE9-46BB-AF40-2337DD044A5E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СПбГАУ 2 вариант широкоформат</Template>
  <TotalTime>667</TotalTime>
  <Words>2</Words>
  <Application>Microsoft Office PowerPoint</Application>
  <PresentationFormat>Широкоэкранный</PresentationFormat>
  <Paragraphs>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2_Специальное оформление</vt:lpstr>
      <vt:lpstr>3_Специальное оформление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Adminisrator</dc:creator>
  <cp:lastModifiedBy>Adminisrator</cp:lastModifiedBy>
  <cp:revision>28</cp:revision>
  <dcterms:created xsi:type="dcterms:W3CDTF">2021-11-26T08:05:23Z</dcterms:created>
  <dcterms:modified xsi:type="dcterms:W3CDTF">2022-01-17T08:03:23Z</dcterms:modified>
</cp:coreProperties>
</file>