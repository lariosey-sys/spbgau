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4902a0c620542fe" /><Relationship Type="http://schemas.openxmlformats.org/officeDocument/2006/relationships/extended-properties" Target="/docProps/app.xml" Id="Rba0266314bf244b6" /><Relationship Type="http://schemas.openxmlformats.org/officeDocument/2006/relationships/officeDocument" Target="/ppt/presentation.xml" Id="Re9f208305ec0422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71c13d407514574"/>
  </p:sldMasterIdLst>
  <p:notesMasterIdLst>
    <p:notesMasterId xmlns:r="http://schemas.openxmlformats.org/officeDocument/2006/relationships" r:id="R270c1c88a31944e1"/>
  </p:notesMasterIdLst>
  <p:sldIdLst>
    <p:sldId xmlns:r="http://schemas.openxmlformats.org/officeDocument/2006/relationships" id="256" r:id="R8f7e80256f434893"/>
    <p:sldId xmlns:r="http://schemas.openxmlformats.org/officeDocument/2006/relationships" id="257" r:id="R2bba792823454bdd"/>
    <p:sldId xmlns:r="http://schemas.openxmlformats.org/officeDocument/2006/relationships" id="258" r:id="Re2c4aa90bbe84f84"/>
    <p:sldId xmlns:r="http://schemas.openxmlformats.org/officeDocument/2006/relationships" id="259" r:id="R2638457823b54844"/>
    <p:sldId xmlns:r="http://schemas.openxmlformats.org/officeDocument/2006/relationships" id="260" r:id="R1a0089382caa417c"/>
    <p:sldId xmlns:r="http://schemas.openxmlformats.org/officeDocument/2006/relationships" id="261" r:id="Rba29054ef06f4e8e"/>
    <p:sldId xmlns:r="http://schemas.openxmlformats.org/officeDocument/2006/relationships" id="262" r:id="R846b8c6dedfb48d0"/>
    <p:sldId xmlns:r="http://schemas.openxmlformats.org/officeDocument/2006/relationships" id="263" r:id="R32d65a48d215494e"/>
    <p:sldId xmlns:r="http://schemas.openxmlformats.org/officeDocument/2006/relationships" id="264" r:id="R94b5be29550644d4"/>
    <p:sldId xmlns:r="http://schemas.openxmlformats.org/officeDocument/2006/relationships" id="265" r:id="R764fe738532f4483"/>
    <p:sldId xmlns:r="http://schemas.openxmlformats.org/officeDocument/2006/relationships" id="266" r:id="Rf74e06b354024a81"/>
    <p:sldId xmlns:r="http://schemas.openxmlformats.org/officeDocument/2006/relationships" id="267" r:id="R8e397f7e73004f38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1c13d407514574" /><Relationship Type="http://schemas.openxmlformats.org/officeDocument/2006/relationships/theme" Target="/ppt/theme/theme1.xml" Id="R99fdb4dcc7174c17" /><Relationship Type="http://schemas.openxmlformats.org/officeDocument/2006/relationships/notesMaster" Target="/ppt/notesMasters/notesMaster1.xml" Id="R270c1c88a31944e1" /><Relationship Type="http://schemas.openxmlformats.org/officeDocument/2006/relationships/presProps" Target="/ppt/presProps.xml" Id="R927b1ebae06041f0" /><Relationship Type="http://schemas.openxmlformats.org/officeDocument/2006/relationships/viewProps" Target="/ppt/viewProps.xml" Id="R8d421e5a2eaa42f8" /><Relationship Type="http://schemas.openxmlformats.org/officeDocument/2006/relationships/tableStyles" Target="/ppt/tableStyles.xml" Id="R9a3912aaed504925" /><Relationship Type="http://schemas.openxmlformats.org/officeDocument/2006/relationships/slide" Target="/ppt/slides/slide1.xml" Id="R8f7e80256f434893" /><Relationship Type="http://schemas.openxmlformats.org/officeDocument/2006/relationships/slide" Target="/ppt/slides/slide2.xml" Id="R2bba792823454bdd" /><Relationship Type="http://schemas.openxmlformats.org/officeDocument/2006/relationships/slide" Target="/ppt/slides/slide3.xml" Id="Re2c4aa90bbe84f84" /><Relationship Type="http://schemas.openxmlformats.org/officeDocument/2006/relationships/slide" Target="/ppt/slides/slide4.xml" Id="R2638457823b54844" /><Relationship Type="http://schemas.openxmlformats.org/officeDocument/2006/relationships/slide" Target="/ppt/slides/slide5.xml" Id="R1a0089382caa417c" /><Relationship Type="http://schemas.openxmlformats.org/officeDocument/2006/relationships/slide" Target="/ppt/slides/slide6.xml" Id="Rba29054ef06f4e8e" /><Relationship Type="http://schemas.openxmlformats.org/officeDocument/2006/relationships/slide" Target="/ppt/slides/slide7.xml" Id="R846b8c6dedfb48d0" /><Relationship Type="http://schemas.openxmlformats.org/officeDocument/2006/relationships/slide" Target="/ppt/slides/slide8.xml" Id="R32d65a48d215494e" /><Relationship Type="http://schemas.openxmlformats.org/officeDocument/2006/relationships/slide" Target="/ppt/slides/slide9.xml" Id="R94b5be29550644d4" /><Relationship Type="http://schemas.openxmlformats.org/officeDocument/2006/relationships/slide" Target="/ppt/slides/slide10.xml" Id="R764fe738532f4483" /><Relationship Type="http://schemas.openxmlformats.org/officeDocument/2006/relationships/slide" Target="/ppt/slides/slide11.xml" Id="Rf74e06b354024a81" /><Relationship Type="http://schemas.openxmlformats.org/officeDocument/2006/relationships/slide" Target="/ppt/slides/slide12.xml" Id="R8e397f7e73004f3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f0db8b5e2e3d436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9013c66e4d84ce6" /><Relationship Type="http://schemas.openxmlformats.org/officeDocument/2006/relationships/notesMaster" Target="/ppt/notesMasters/notesMaster1.xml" Id="R337a788fdf17423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2737178f954499d" /><Relationship Type="http://schemas.openxmlformats.org/officeDocument/2006/relationships/notesMaster" Target="/ppt/notesMasters/notesMaster1.xml" Id="Rb49ebfea6780471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62ef2bb9637456b" /><Relationship Type="http://schemas.openxmlformats.org/officeDocument/2006/relationships/notesMaster" Target="/ppt/notesMasters/notesMaster1.xml" Id="R339ac473ff2043f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cf6f727d6b9467a" /><Relationship Type="http://schemas.openxmlformats.org/officeDocument/2006/relationships/notesMaster" Target="/ppt/notesMasters/notesMaster1.xml" Id="R4cf5399b70404a9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d3ea890f4eb4d42" /><Relationship Type="http://schemas.openxmlformats.org/officeDocument/2006/relationships/notesMaster" Target="/ppt/notesMasters/notesMaster1.xml" Id="R619718506f7c40b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59ab6932cd145d8" /><Relationship Type="http://schemas.openxmlformats.org/officeDocument/2006/relationships/notesMaster" Target="/ppt/notesMasters/notesMaster1.xml" Id="R0865af084565466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4534789edf54e0b" /><Relationship Type="http://schemas.openxmlformats.org/officeDocument/2006/relationships/notesMaster" Target="/ppt/notesMasters/notesMaster1.xml" Id="R34c84c89a1f74ad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510f055332d4e4c" /><Relationship Type="http://schemas.openxmlformats.org/officeDocument/2006/relationships/notesMaster" Target="/ppt/notesMasters/notesMaster1.xml" Id="R320ce7cf2a5e4ad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d68813332dd4f1f" /><Relationship Type="http://schemas.openxmlformats.org/officeDocument/2006/relationships/notesMaster" Target="/ppt/notesMasters/notesMaster1.xml" Id="R104afcf29b1643c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06f136e5d3e46bb" /><Relationship Type="http://schemas.openxmlformats.org/officeDocument/2006/relationships/notesMaster" Target="/ppt/notesMasters/notesMaster1.xml" Id="R18d1f1cec9de4b1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b3b2dcb5d5545d6" /><Relationship Type="http://schemas.openxmlformats.org/officeDocument/2006/relationships/notesMaster" Target="/ppt/notesMasters/notesMaster1.xml" Id="Rd4ba1de8f0454b9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23b51d2ecbf4159" /><Relationship Type="http://schemas.openxmlformats.org/officeDocument/2006/relationships/notesMaster" Target="/ppt/notesMasters/notesMaster1.xml" Id="Ra67082fb464d4e1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142241e9b74159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8bf0ccac501041f9" /><Relationship Type="http://schemas.openxmlformats.org/officeDocument/2006/relationships/slideLayout" Target="/ppt/slideLayouts/slideLayout2.xml" Id="R4e8366ee4ee7472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e8366ee4ee7472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8a2e3b505204a32" /><Relationship Type="http://schemas.openxmlformats.org/officeDocument/2006/relationships/notesSlide" Target="/ppt/notesSlides/notesSlide1.xml" Id="Recbe3e11ec3548c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5d66f28b77e4c7b" /><Relationship Type="http://schemas.openxmlformats.org/officeDocument/2006/relationships/notesSlide" Target="/ppt/notesSlides/notesSlide2.xml" Id="R90ac8bb1820c43b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64c108516194d69" /><Relationship Type="http://schemas.openxmlformats.org/officeDocument/2006/relationships/notesSlide" Target="/ppt/notesSlides/notesSlide3.xml" Id="R1b9e36180f2f4d7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ae745f2e36f4c1c" /><Relationship Type="http://schemas.openxmlformats.org/officeDocument/2006/relationships/notesSlide" Target="/ppt/notesSlides/notesSlide4.xml" Id="R4da4ffa9d5ab49b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0c9198070c84897" /><Relationship Type="http://schemas.openxmlformats.org/officeDocument/2006/relationships/notesSlide" Target="/ppt/notesSlides/notesSlide5.xml" Id="R4dad171158ff413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7a9ca7ca2da40f6" /><Relationship Type="http://schemas.openxmlformats.org/officeDocument/2006/relationships/notesSlide" Target="/ppt/notesSlides/notesSlide6.xml" Id="Rce473aff5cf44bf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141c9d1f8e64743" /><Relationship Type="http://schemas.openxmlformats.org/officeDocument/2006/relationships/notesSlide" Target="/ppt/notesSlides/notesSlide7.xml" Id="R0a7ce67797b7415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980c88c1570449f" /><Relationship Type="http://schemas.openxmlformats.org/officeDocument/2006/relationships/notesSlide" Target="/ppt/notesSlides/notesSlide8.xml" Id="R10ca1a486002485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98d291ea7ed4b06" /><Relationship Type="http://schemas.openxmlformats.org/officeDocument/2006/relationships/notesSlide" Target="/ppt/notesSlides/notesSlide9.xml" Id="Re35861ea61df49c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f9eb03f7d874ff0" /><Relationship Type="http://schemas.openxmlformats.org/officeDocument/2006/relationships/notesSlide" Target="/ppt/notesSlides/notesSlide10.xml" Id="Ra5a0090ae33a46a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d52ca983d3d487c" /><Relationship Type="http://schemas.openxmlformats.org/officeDocument/2006/relationships/notesSlide" Target="/ppt/notesSlides/notesSlide11.xml" Id="Rea08b38339e6443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e25593c95a94085" /><Relationship Type="http://schemas.openxmlformats.org/officeDocument/2006/relationships/notesSlide" Target="/ppt/notesSlides/notesSlide12.xml" Id="R5b7512e4310a4cb6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1DF967C-1FF6-4EA5-A326-567C864EE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4E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743881-2822-4CD4-AA7D-019EF9FEA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BF116B-933F-4FF8-905B-BD0B69199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F7A4D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F7A4D"/>
                </a:solidFill>
                <a:latin typeface="Aptos"/>
                <a:ea typeface="Aptos"/>
                <a:cs typeface="Aptos"/>
              </a:rPr>
              <a:t>ТЕМА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2E9120-B74E-47A5-88A2-C75AFFB54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04850"/>
            <a:ext cx="8001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6201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16201D"/>
                </a:solidFill>
                <a:latin typeface="Aptos Display"/>
                <a:ea typeface="Aptos Display"/>
                <a:cs typeface="Aptos Display"/>
              </a:rPr>
              <a:t>Разработка интеллектуальной системы управления микроклиматом теплицы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C21B71-791E-41A1-99D2-A56D30B42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52600"/>
            <a:ext cx="7239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Программно-аппаратный контур: датчики, MQTT, реле, dashboard, журналирование и подготовка данных для ML.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CF7E37-7C83-4FFA-9B5C-89D6C4D31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38900"/>
            <a:ext cx="4762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ВКР | интеллектуальная система микроклимата теплицы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3BD6E9-C7CB-41C0-9958-EA068EF10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81750"/>
            <a:ext cx="514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472715-D8F5-48AE-AB93-70E1A6F33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45720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A2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DEDA7C-ED10-461E-A903-31F4A11B3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28900"/>
            <a:ext cx="4000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monitor -&gt; decide -&gt; actuate -&gt; learn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E31D42-A505-42B1-9331-3B79598F5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14700"/>
            <a:ext cx="16954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2109F9-09A2-4104-84C3-9C6D6676E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371850"/>
            <a:ext cx="1504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63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ESP8266 sensors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EC5924-3ABF-48D4-9D87-843EA3542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314700"/>
            <a:ext cx="16954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12C3B8-3A5C-4D6B-A7E2-CA19076BF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371850"/>
            <a:ext cx="1504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63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MQTT broker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E17D5A-7142-43C6-93BF-72F6AC35B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29050"/>
            <a:ext cx="16954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68BFFA-45C3-448C-9892-057E9F747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886200"/>
            <a:ext cx="1504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63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Flask dashboard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EC15C0-959E-45A8-81A8-382F1ABFA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829050"/>
            <a:ext cx="16954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B8F764-06FF-4BB3-8E6E-647B3802C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886200"/>
            <a:ext cx="1504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63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15 relay outputs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773E523-68E5-4A7E-A0D3-3A556167C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43400"/>
            <a:ext cx="16954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DDF9FA-BEFD-4316-84BD-7247AF0D4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400550"/>
            <a:ext cx="1504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63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SQLite history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F72DB5-92DE-4974-871C-7CFD370AE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343400"/>
            <a:ext cx="16954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51323DC-98F2-4ADE-8296-6FC0A1E5B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400550"/>
            <a:ext cx="1504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63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ML dataset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7CFE56-F7DC-4708-AEDF-A2C3C10C7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343150"/>
            <a:ext cx="2190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F1C263D-3FDC-456D-984D-FD61763AB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343150"/>
            <a:ext cx="476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4D4B13F-9A95-4104-A2D0-0FFDA7180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486025"/>
            <a:ext cx="1866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Практический фокус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8E02CB-EC0B-4536-981E-D96633137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781300"/>
            <a:ext cx="18669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Не абстрактная ML-модель, а инженерная база, где каждое измерение и каждое состояние реле можно проверить.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C265998-CCE6-4D89-BE02-D8A1D0F4F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343150"/>
            <a:ext cx="2190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5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5B4A5CA-AD20-4CD0-BEF5-DD1A8F656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343150"/>
            <a:ext cx="476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547061C-5129-41DF-846B-7E0D28EF4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486025"/>
            <a:ext cx="1866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Граница результата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DBECB33-8607-487F-831A-D685601DD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781300"/>
            <a:ext cx="18669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ML-слой подготовлен как следующий этап после накопления реальных временных рядов.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FB54AE9-DDF8-4248-9D72-79E6042E7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038600"/>
            <a:ext cx="46482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5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FA37788-C8BC-4F7B-B8FB-93147842D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038600"/>
            <a:ext cx="476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C8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A8C7215-1444-4F26-B471-50A404BFB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181475"/>
            <a:ext cx="4324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Итог защиты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35398E1-F43B-4941-82AF-6A18C7A2C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476750"/>
            <a:ext cx="4324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Показать архитектуру, реализованные компоненты, способ проверки и честный план развития до прогнозного управления.</a:t>
            </a:r>
          </a:p>
        </p:txBody>
      </p:sp>
    </p:spTree>
    <p:extLst>
      <p:ext uri="{BB962C8B-B14F-4D97-AF65-F5344CB8AC3E}">
        <p14:creationId xmlns:p14="http://schemas.microsoft.com/office/powerpoint/2010/main" val="68141898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2EA48A5-0470-4CAC-8D0B-CC057071B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4E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314692-AB65-433C-9998-EFB99F568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FF6870-E2DF-4AAE-844D-466069D42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F7A4D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F7A4D"/>
                </a:solidFill>
                <a:latin typeface="Aptos"/>
                <a:ea typeface="Aptos"/>
                <a:cs typeface="Aptos"/>
              </a:rPr>
              <a:t>ПРОБЛЕМА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08C8EC-D7B8-4AB6-AEBB-5A2687136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04850"/>
            <a:ext cx="8001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6201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16201D"/>
                </a:solidFill>
                <a:latin typeface="Aptos Display"/>
                <a:ea typeface="Aptos Display"/>
                <a:cs typeface="Aptos Display"/>
              </a:rPr>
              <a:t>Теплица становится киберфизической системой, а ручное управление плохо удерживает связанный микроклимат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604A4C-AE92-4E09-8AB4-37C961207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52600"/>
            <a:ext cx="7239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Температура, влажность, CO2 и исполнительные устройства влияют друг на друга с задержками и энергозатратами.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066A2E-D65D-4E0C-87D9-F4F9B0374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38900"/>
            <a:ext cx="4762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ВКР | интеллектуальная система микроклимата теплицы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BB3C73-C918-456F-A5F9-D583FCD5C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81750"/>
            <a:ext cx="514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ADD3A3-B25B-4811-8A16-54891185D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23812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610EAC-EA3D-4BA4-8099-BCF092E5C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4762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56BA9E-16FF-48E0-87D3-67B28DCBE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86025"/>
            <a:ext cx="2057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Много параметров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1AD64D-C052-4AC9-864C-CCBAB5D62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20574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Температура, влажность, CO2, проветривание, нагрев, насосы и фильтрация должны рассматриваться совместно.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36E9EC-ECA8-4C18-9C7F-BD7787847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343150"/>
            <a:ext cx="23812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FEB993-209B-43AE-B49F-66A705C7E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343150"/>
            <a:ext cx="4762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6429A9-7F48-497C-A31B-C69095D11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486025"/>
            <a:ext cx="2057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Инерционность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D40D08-219B-4579-9028-E2066DA08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781300"/>
            <a:ext cx="20574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Реакция среды на включение оборудования запаздывает, поэтому простое ручное переключение нестабильно.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6211C4-5C1D-4F8B-9720-5B6827E50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343150"/>
            <a:ext cx="23812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713E62-30F7-41A1-8208-733473E1B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343150"/>
            <a:ext cx="4762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C8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1E9F21-629C-403D-9B94-334DEB97D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486025"/>
            <a:ext cx="2057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Нужна история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65835E0-AE98-4162-B773-40D730CF6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81300"/>
            <a:ext cx="20574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Без журналов невозможно доказать корректность работы и обучить прогнозную модель.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2B69D7-9D1A-4A74-B5A2-8151271A7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343150"/>
            <a:ext cx="23812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16E0FE6-BB06-411E-A38E-AD4CD6A4E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343150"/>
            <a:ext cx="4762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42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391F918-08B6-4CDB-B8FE-3B2A163B7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486025"/>
            <a:ext cx="2057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Нужна проверка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0CE0967-71CD-4630-B385-FAD99C6CF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781300"/>
            <a:ext cx="20574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Для защиты важны MQTT-логи, SQL-строки, скриншоты и воспроизводимый протокол испытаний.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B0F2BA0-1788-474B-B26F-86BB70751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724400"/>
            <a:ext cx="81438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3C7D606-1633-4FDF-B3A9-E07803C6C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4676775"/>
            <a:ext cx="95250" cy="1143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EC26D96-0A2A-40A7-8E3B-6D0797494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972050"/>
            <a:ext cx="6477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От разовых включений -&gt; к наблюдаемому автоматизированному контуру</a:t>
            </a:r>
          </a:p>
        </p:txBody>
      </p:sp>
    </p:spTree>
    <p:extLst>
      <p:ext uri="{BB962C8B-B14F-4D97-AF65-F5344CB8AC3E}">
        <p14:creationId xmlns:p14="http://schemas.microsoft.com/office/powerpoint/2010/main" val="60512597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DBA8766-9B8B-4E0B-9857-7D38D4B31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4E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C72030-94F4-4F29-ACDC-11CEB0BEF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E3968D-E623-46B4-B053-8FCD2F47A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F7A4D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F7A4D"/>
                </a:solidFill>
                <a:latin typeface="Aptos"/>
                <a:ea typeface="Aptos"/>
                <a:cs typeface="Aptos"/>
              </a:rPr>
              <a:t>ЦЕЛЬ И ЗАДАЧИ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E7D0A3-A2BA-40C3-85A5-2DE72E715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04850"/>
            <a:ext cx="8001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6201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16201D"/>
                </a:solidFill>
                <a:latin typeface="Aptos Display"/>
                <a:ea typeface="Aptos Display"/>
                <a:cs typeface="Aptos Display"/>
              </a:rPr>
              <a:t>Цель: разработать систему мониторинга и управления, готовую к накоплению данных для машинного обучения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AF1E3C-9FE2-4BDA-AB9C-3C43886D2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38900"/>
            <a:ext cx="4762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ВКР | интеллектуальная система микроклимата теплицы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B72340-E97A-4A76-8BE6-F3967D4B9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81750"/>
            <a:ext cx="514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A2D844-85BD-4A6F-A834-7DB68F370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38350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F7A4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1F7A4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423FEF-B62C-4429-A03A-5B023C87B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209800"/>
            <a:ext cx="8858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2C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B21932-4016-4C3A-9419-1D2CF68EC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19300"/>
            <a:ext cx="1714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Обзор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55D3A7-4CBF-463E-A374-A7D4A3A53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038350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IoT, ML-прогнозирование, MPC/RL, энергоэффективность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DEC27D-EA24-4FE1-A1AA-19B571406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81300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A33609-9BFB-4FDA-9DFC-BC6142BBD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952750"/>
            <a:ext cx="8858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2C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B90AFB-9366-4472-89B3-27F43D35B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762250"/>
            <a:ext cx="1714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Проектирование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0340A2-2FFE-424F-8184-26E0FED5F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781300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Архитектура, MQTT-модель, правила, профили, БД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9EB77C-9C07-4FD7-AA7E-ABFA4F48C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24250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F7A4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1F7A4D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FAC79C-1E90-4C1E-B26B-DA82346E8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695700"/>
            <a:ext cx="8858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2C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383CA0-2032-420B-A197-BE2376A04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05200"/>
            <a:ext cx="1714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Прошивки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CBF35E-008E-4F8D-9DD9-9FACCC183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524250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DHT11, SCD30, Arduino Mega + ESP8266 AT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4D0C91-FEAB-4F8D-AE64-7A6E1329B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67200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A1EAF9-5821-44A0-BD78-D8034FFC1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438650"/>
            <a:ext cx="8858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2C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EEA7A34-3486-4A08-8C30-4FC8AE0B8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248150"/>
            <a:ext cx="1714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Dashboard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74C69E-EBCF-44B2-AEF2-D53F354D3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267200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Ручное и групповое управление, правила, статистика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8DC533-5185-40FD-9991-2F4A3AFA4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010150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F7A4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1F7A4D"/>
                </a:solidFill>
                <a:latin typeface="Aptos Display"/>
                <a:ea typeface="Aptos Display"/>
                <a:cs typeface="Aptos Display"/>
              </a:rPr>
              <a:t>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91AD622-79E2-4E84-9D8C-83E16ED75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181600"/>
            <a:ext cx="8858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2C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DD198C2-31F0-4896-A6E6-2E6252B68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991100"/>
            <a:ext cx="1714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Проверка и ML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CE0B22A-35B6-4FC0-8054-98BD9F75D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010150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Протокол испытаний, экспорт, признаки и baseline-план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A489C91-39ED-4A75-B62B-617F23430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2266950"/>
            <a:ext cx="1238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F7A4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F7A4D"/>
                </a:solidFill>
                <a:latin typeface="Aptos Display"/>
                <a:ea typeface="Aptos Display"/>
                <a:cs typeface="Aptos Display"/>
              </a:rPr>
              <a:t>15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34B44D0-8B98-4F8B-AA1C-83F5B509A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2647950"/>
            <a:ext cx="150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66706B"/>
                </a:solidFill>
                <a:latin typeface="Aptos"/>
                <a:ea typeface="Aptos"/>
                <a:cs typeface="Aptos"/>
              </a:rPr>
              <a:t>каналов реле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419A5AF-8D7D-490F-AD5C-DF9FE5826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3219450"/>
            <a:ext cx="1238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F7A4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F7A4D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5F201BF-09E9-4C9C-81E9-E95364392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3600450"/>
            <a:ext cx="150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66706B"/>
                </a:solidFill>
                <a:latin typeface="Aptos"/>
                <a:ea typeface="Aptos"/>
                <a:cs typeface="Aptos"/>
              </a:rPr>
              <a:t>параметра микроклимата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672497F-5B7B-4DFD-9397-F9CD0F49C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4171950"/>
            <a:ext cx="1238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F7A4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F7A4D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ABD54FE-22CC-4F5E-B563-BB3564BB3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4552950"/>
            <a:ext cx="150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66706B"/>
                </a:solidFill>
                <a:latin typeface="Aptos"/>
                <a:ea typeface="Aptos"/>
                <a:cs typeface="Aptos"/>
              </a:rPr>
              <a:t>таблицы истории</a:t>
            </a:r>
          </a:p>
        </p:txBody>
      </p:sp>
    </p:spTree>
    <p:extLst>
      <p:ext uri="{BB962C8B-B14F-4D97-AF65-F5344CB8AC3E}">
        <p14:creationId xmlns:p14="http://schemas.microsoft.com/office/powerpoint/2010/main" val="154305681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CCE39CE-9F30-40B8-AEDF-083404419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4E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D85114-6962-44F1-8F2B-95EEB8C49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A53CC3-55A4-41FC-8F67-E8B8A6C94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F7A4D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F7A4D"/>
                </a:solidFill>
                <a:latin typeface="Aptos"/>
                <a:ea typeface="Aptos"/>
                <a:cs typeface="Aptos"/>
              </a:rPr>
              <a:t>АРХИТЕКТУРА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FC8A0E-1A20-4355-A962-246809079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04850"/>
            <a:ext cx="8001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6201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16201D"/>
                </a:solidFill>
                <a:latin typeface="Aptos Display"/>
                <a:ea typeface="Aptos Display"/>
                <a:cs typeface="Aptos Display"/>
              </a:rPr>
              <a:t>Система разделена на датчики, MQTT-шину, исполнительный контроллер, dashboard и слой данных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C56DC4-7242-4F0E-BCF6-8F46CCDB6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38900"/>
            <a:ext cx="4762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ВКР | интеллектуальная система микроклимата теплицы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7E6318-BD96-4ADD-B937-30228E853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81750"/>
            <a:ext cx="514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586935-73D7-4DAD-8F18-71308BF95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66950"/>
            <a:ext cx="18097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8F2EB1-C123-4A90-BE45-501EDBCB9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66950"/>
            <a:ext cx="4762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9C4BDA-0740-4B67-A9BF-45A331748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09825"/>
            <a:ext cx="1485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Датчики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D2312F-415D-4B9F-A058-E13380E0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05100"/>
            <a:ext cx="14859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ESP8266+DHT11</a:t>
            </a:r>
          </a:p>
          <a:p xmlns:a="http://schemas.openxmlformats.org/drawingml/2006/main">
            <a:pPr algn="l">
              <a:defRPr sz="735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ESP8266+SCD30</a:t>
            </a:r>
          </a:p>
          <a:p xmlns:a="http://schemas.openxmlformats.org/drawingml/2006/main">
            <a:pPr algn="l">
              <a:defRPr sz="735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публикация JSON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55241C-6ECB-49BC-A599-114E2AE16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266950"/>
            <a:ext cx="1524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3B4756-5115-4338-8EB3-C6994FC24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266950"/>
            <a:ext cx="4762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E4722F-172C-4222-AEBD-FD257DA1D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409825"/>
            <a:ext cx="12001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MQTT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611083-15F8-4E68-9720-B917C5FDB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705100"/>
            <a:ext cx="1200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mosquitto</a:t>
            </a:r>
          </a:p>
          <a:p xmlns:a="http://schemas.openxmlformats.org/drawingml/2006/main">
            <a:pPr algn="l">
              <a:defRPr sz="735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pub/sub</a:t>
            </a:r>
          </a:p>
          <a:p xmlns:a="http://schemas.openxmlformats.org/drawingml/2006/main">
            <a:pPr algn="l">
              <a:defRPr sz="735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status topics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2E6C7A-50D1-486F-8337-CB879483A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266950"/>
            <a:ext cx="1905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1C1CDF-19AB-4817-8720-B077AC271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266950"/>
            <a:ext cx="4762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C8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CF951B-01FB-4C07-AC62-40AF0D641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409825"/>
            <a:ext cx="15811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Dashboard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06E090-F8B2-4DEB-8A09-5FEFBF559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705100"/>
            <a:ext cx="1581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Flask</a:t>
            </a:r>
          </a:p>
          <a:p xmlns:a="http://schemas.openxmlformats.org/drawingml/2006/main">
            <a:pPr algn="l">
              <a:defRPr sz="735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rules/profiles</a:t>
            </a:r>
          </a:p>
          <a:p xmlns:a="http://schemas.openxmlformats.org/drawingml/2006/main">
            <a:pPr algn="l">
              <a:defRPr sz="735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operator UI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168C19A-D781-4B60-ADCB-CE9465AA0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266950"/>
            <a:ext cx="1714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BE7671-7178-4964-BAAA-319CF12C5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266950"/>
            <a:ext cx="4762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12EA95C-E1C0-40A2-8AE3-2269106C2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409825"/>
            <a:ext cx="1390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SQLite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7BB246-6E30-4EE5-A88A-36E911FDF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705100"/>
            <a:ext cx="1390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sensor_log</a:t>
            </a:r>
          </a:p>
          <a:p xmlns:a="http://schemas.openxmlformats.org/drawingml/2006/main">
            <a:pPr algn="l">
              <a:defRPr sz="735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relay_log</a:t>
            </a:r>
          </a:p>
          <a:p xmlns:a="http://schemas.openxmlformats.org/drawingml/2006/main">
            <a:pPr algn="l">
              <a:defRPr sz="735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export CSV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97A0030-18D2-48DC-9044-4549ECF73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266950"/>
            <a:ext cx="1714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968389C-EC98-4964-9169-3C76A0DA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266950"/>
            <a:ext cx="4762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42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246FC9D-A35F-4480-9B13-8EE2236C1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2409825"/>
            <a:ext cx="1390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ML слой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E40E9C6-EC8E-4EF5-B3FD-864941E21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2705100"/>
            <a:ext cx="1390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dataset</a:t>
            </a:r>
          </a:p>
          <a:p xmlns:a="http://schemas.openxmlformats.org/drawingml/2006/main">
            <a:pPr algn="l">
              <a:defRPr sz="735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features</a:t>
            </a:r>
          </a:p>
          <a:p xmlns:a="http://schemas.openxmlformats.org/drawingml/2006/main">
            <a:pPr algn="l">
              <a:defRPr sz="735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baseline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6EBCA78-563B-42F1-9DD1-71D3D0A77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838450"/>
            <a:ext cx="5905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46B8AFB-4216-4C34-9536-7659E54A7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2790825"/>
            <a:ext cx="95250" cy="1143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1A14C9B-DE89-4915-93A3-6CC7B5703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38450"/>
            <a:ext cx="5905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17065C4-FB1D-44F0-B806-29F470EBA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2790825"/>
            <a:ext cx="95250" cy="1143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609EA43-7C11-4185-AB69-EE0F7C06B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838450"/>
            <a:ext cx="5905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6B996F9-14CA-4088-8287-89760D769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790825"/>
            <a:ext cx="95250" cy="1143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610CDA6-D143-4822-A790-865E35EE4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838450"/>
            <a:ext cx="533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C573290-1360-468A-AB22-763FB1F9D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2790825"/>
            <a:ext cx="95250" cy="1143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B745E4D-6410-417A-932B-050E9353D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171950"/>
            <a:ext cx="20955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5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F0A30CE-ABFC-4F58-9A3A-44C0833A2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171950"/>
            <a:ext cx="47625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207D9EC-7E15-4864-84A6-A706A7631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314825"/>
            <a:ext cx="1771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Контроллер реле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FE9C8C4-8F07-42CE-BECD-ADDFE6043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610100"/>
            <a:ext cx="17716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Arduino Mega 2560 + ESP8266 AT принимает команды и публикует фактические состояния.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480721F-A978-47E8-9DE3-60A2ACC61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171950"/>
            <a:ext cx="40005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5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636ECDE-1392-4F00-8FB6-F45495F0D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171950"/>
            <a:ext cx="47625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A149FE0-FA09-4DF1-A310-F7B1CAFE1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314825"/>
            <a:ext cx="3676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Исполнительные группы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AD655E0-D9E7-4D6F-A3E6-302011A12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610100"/>
            <a:ext cx="36766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Заслонки, вентиляторы, ТЭНы, насосы и фильтры управляются по отдельности и группами.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397B94A-C115-48A2-95D3-07902DD81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409950"/>
            <a:ext cx="-152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B883E06-FA1D-4B4E-A1B5-BC119DCB1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3362325"/>
            <a:ext cx="95250" cy="1143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295B307-AD83-46E5-859D-30690B5DC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743450"/>
            <a:ext cx="571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A40F34F-32CB-4536-9E76-CB6E343FD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4025" y="4695825"/>
            <a:ext cx="95250" cy="1143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18620376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2317FE7-A9F9-4028-87F0-F9A9B7FBC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4E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F6C232-D732-4EDF-BA4C-E0DF5D64A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C889E3-98CB-4F41-A89A-44EC679C7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F7A4D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F7A4D"/>
                </a:solidFill>
                <a:latin typeface="Aptos"/>
                <a:ea typeface="Aptos"/>
                <a:cs typeface="Aptos"/>
              </a:rPr>
              <a:t>MQTT-МОДЕЛЬ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D2AACD-14E2-41B2-980A-BB783B0F0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04850"/>
            <a:ext cx="8001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6201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16201D"/>
                </a:solidFill>
                <a:latin typeface="Aptos Display"/>
                <a:ea typeface="Aptos Display"/>
                <a:cs typeface="Aptos Display"/>
              </a:rPr>
              <a:t>Топики отделяют телеметрию, команды, состояния и доступность устройств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3F8BCD-61C9-40BC-B7D7-5B7DA144A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38900"/>
            <a:ext cx="4762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ВКР | интеллектуальная система микроклимата теплицы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46F092-9483-4B73-ACD8-94A375047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81750"/>
            <a:ext cx="514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C810F2-9B93-442E-AA57-CEC227A4F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95500"/>
            <a:ext cx="9906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A50EC1-993A-4B9E-B5DB-D13EFDC63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09800"/>
            <a:ext cx="1428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Телеметрия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9D80D2-600E-4394-B577-5AF9C9B75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200275"/>
            <a:ext cx="3619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F7A4D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1F7A4D"/>
                </a:solidFill>
                <a:latin typeface="Aptos Mono"/>
                <a:ea typeface="Aptos Mono"/>
                <a:cs typeface="Aptos Mono"/>
              </a:rPr>
              <a:t>greenhouse/env/&lt;device&gt;/state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FFF361-BFA5-454D-8BBE-B3DD3A684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09800"/>
            <a:ext cx="3238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{t, h, co2, device}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0EC4AA-FFBA-4FEA-9897-4B8E06D92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86050"/>
            <a:ext cx="9906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FBF7"/>
          </a:solidFill>
          <a:ln xmlns:a="http://schemas.openxmlformats.org/drawingml/2006/main" w="9525">
            <a:solidFill>
              <a:srgbClr val="D9D2C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C61F9C-65EC-4C5B-B66A-9935515FC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800350"/>
            <a:ext cx="1428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Команды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626525-E09B-48BB-9E76-4D8BB9985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790825"/>
            <a:ext cx="3619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F7A4D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1F7A4D"/>
                </a:solidFill>
                <a:latin typeface="Aptos Mono"/>
                <a:ea typeface="Aptos Mono"/>
                <a:cs typeface="Aptos Mono"/>
              </a:rPr>
              <a:t>greenhouse/relay/&lt;n&gt;/set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C6570E-30E6-4BF2-97DC-3A28D01F6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00350"/>
            <a:ext cx="3238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ON / OFF / TOGGLE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81D655-7DFF-4F41-BF8D-ED8BD5BE5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76600"/>
            <a:ext cx="9906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D68BDF-9367-45EA-AF60-6F4D0F419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90900"/>
            <a:ext cx="1428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Состояния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99D5D6-D2AD-4679-B456-4A94304AE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381375"/>
            <a:ext cx="3619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F7A4D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1F7A4D"/>
                </a:solidFill>
                <a:latin typeface="Aptos Mono"/>
                <a:ea typeface="Aptos Mono"/>
                <a:cs typeface="Aptos Mono"/>
              </a:rPr>
              <a:t>greenhouse/relay/&lt;n&gt;/state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87608EA-C372-4745-9F5A-BD40F68E5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90900"/>
            <a:ext cx="3238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фактическое состояние реле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5DFDDA-D92A-416B-B970-5A345B33F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67150"/>
            <a:ext cx="9906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FBF7"/>
          </a:solidFill>
          <a:ln xmlns:a="http://schemas.openxmlformats.org/drawingml/2006/main" w="9525">
            <a:solidFill>
              <a:srgbClr val="D9D2C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11B1EAA-4CF2-4E48-B242-3CB4CC2E6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981450"/>
            <a:ext cx="1428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Сводка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155BE12-B0AD-4E8A-B8C0-A54EA7F05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971925"/>
            <a:ext cx="3619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F7A4D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1F7A4D"/>
                </a:solidFill>
                <a:latin typeface="Aptos Mono"/>
                <a:ea typeface="Aptos Mono"/>
                <a:cs typeface="Aptos Mono"/>
              </a:rPr>
              <a:t>greenhouse/relay/summary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8ABB4D-6D11-49E0-91AB-5D1814945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981450"/>
            <a:ext cx="3238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состояния 15 каналов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900EDBD-5F62-43AA-9406-C559B974C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57700"/>
            <a:ext cx="9906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B912AAD-9C14-43B1-A605-D9D98C76A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572000"/>
            <a:ext cx="1428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Доступность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4659420-6A5F-47B2-AF26-A20FB8785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562475"/>
            <a:ext cx="3619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F7A4D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1F7A4D"/>
                </a:solidFill>
                <a:latin typeface="Aptos Mono"/>
                <a:ea typeface="Aptos Mono"/>
                <a:cs typeface="Aptos Mono"/>
              </a:rPr>
              <a:t>greenhouse/&lt;device&gt;/status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271B1A9-2AA1-4A85-A17E-67D49DBB7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572000"/>
            <a:ext cx="3238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online / offline через LWT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FF10BA8-F407-41BA-B7DD-5B93D1B36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34000"/>
            <a:ext cx="9906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A"/>
          </a:solidFill>
          <a:ln xmlns:a="http://schemas.openxmlformats.org/drawingml/2006/main" w="9525">
            <a:solidFill>
              <a:srgbClr val="D9D2C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C210426-C116-4077-B549-509782692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34000"/>
            <a:ext cx="47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E2D8639-76C4-4E28-89EC-5837830C3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29250"/>
            <a:ext cx="9582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Доказательство для финальной версии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CCE9B98-15A4-453E-AACA-CB703FC05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57850"/>
            <a:ext cx="95821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690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На этот слайд нужно добавить реальный фрагмент mosquitto_sub после запуска оборудования.</a:t>
            </a:r>
          </a:p>
        </p:txBody>
      </p:sp>
    </p:spTree>
    <p:extLst>
      <p:ext uri="{BB962C8B-B14F-4D97-AF65-F5344CB8AC3E}">
        <p14:creationId xmlns:p14="http://schemas.microsoft.com/office/powerpoint/2010/main" val="150754957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D143F27-22CA-4601-B891-61366A6F2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4E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E6F264-D88E-418E-9D6A-8C708C12E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97898D-3E72-4F72-8995-74D2B79F4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F7A4D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F7A4D"/>
                </a:solidFill>
                <a:latin typeface="Aptos"/>
                <a:ea typeface="Aptos"/>
                <a:cs typeface="Aptos"/>
              </a:rPr>
              <a:t>ИСПОЛНИТЕЛЬНЫЕ УСТРОЙСТВА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F8D99A-26CE-4E4B-A456-FBBA5C11A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04850"/>
            <a:ext cx="8001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6201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16201D"/>
                </a:solidFill>
                <a:latin typeface="Aptos Display"/>
                <a:ea typeface="Aptos Display"/>
                <a:cs typeface="Aptos Display"/>
              </a:rPr>
              <a:t>15 каналов реле сведены в функциональные группы для ручного и автоматического управления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6F4AE3-A13D-406C-BACC-F82682BC1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38900"/>
            <a:ext cx="4762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ВКР | интеллектуальная система микроклимата теплицы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896BA5-DFA1-43DA-B92C-76AECC3EE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81750"/>
            <a:ext cx="514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844B1C-FDB7-49B9-BC11-58540B924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05050"/>
            <a:ext cx="17526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3BE83C-4A4B-4E58-8D34-29A2527DA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05050"/>
            <a:ext cx="17526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511163-C402-4FF0-911A-FC1FE9146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05100"/>
            <a:ext cx="1409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Заслонки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B442CA-2CF3-4A44-883C-919C49224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43250"/>
            <a:ext cx="1409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F7A4D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1F7A4D"/>
                </a:solidFill>
                <a:latin typeface="Aptos Display"/>
                <a:ea typeface="Aptos Display"/>
                <a:cs typeface="Aptos Display"/>
              </a:rPr>
              <a:t>14, 12, 11, 9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088BD1-2050-4284-8F12-9BA7DC29C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62350"/>
            <a:ext cx="14097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relay ids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96F424-C557-4477-BA4C-10A6B4255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305050"/>
            <a:ext cx="17526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A98C11-D170-4B25-8C66-E3F5DD7DF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305050"/>
            <a:ext cx="17526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58A583-87A4-4182-BDA9-A020A51B0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705100"/>
            <a:ext cx="1409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Вентиляторы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034048-44B4-4B1D-884A-D94AF324B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143250"/>
            <a:ext cx="1409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10, 8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D6584F-C4AE-421D-A09C-C89581767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562350"/>
            <a:ext cx="14097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relay ids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494B70-2F09-46C4-8582-C5BE624F4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305050"/>
            <a:ext cx="17526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57E87D-8DA3-4704-89EA-BB9E4B240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305050"/>
            <a:ext cx="17526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42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9A1F79-63DF-4CAF-A521-786D7E970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705100"/>
            <a:ext cx="1409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ТЭНы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ECF8551-6886-4AC7-B5BE-0ED60693D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143250"/>
            <a:ext cx="1409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B6423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B6423C"/>
                </a:solidFill>
                <a:latin typeface="Aptos Display"/>
                <a:ea typeface="Aptos Display"/>
                <a:cs typeface="Aptos Display"/>
              </a:rPr>
              <a:t>15, 13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8B8C18E-749B-4C8E-96D9-8E5DB7178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562350"/>
            <a:ext cx="14097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relay ids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991CB1C-092A-44C1-BFE6-AA03B955B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305050"/>
            <a:ext cx="17526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B0E79A-3D3C-4969-8882-A7B4F2E79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305050"/>
            <a:ext cx="17526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C8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FFB2D2C-AFB6-4DB2-847A-724DF00A3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705100"/>
            <a:ext cx="1409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Насосы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4B9138F-2A8E-4D83-A84C-908AB747D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143250"/>
            <a:ext cx="1409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315C86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315C86"/>
                </a:solidFill>
                <a:latin typeface="Aptos Display"/>
                <a:ea typeface="Aptos Display"/>
                <a:cs typeface="Aptos Display"/>
              </a:rPr>
              <a:t>4, 6, 7, 5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DE541F3-1456-4D0B-A5AD-4D8FD2B8A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562350"/>
            <a:ext cx="14097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relay ids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41A052F-4FCE-4070-A3EF-A82E9B4F4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305050"/>
            <a:ext cx="17526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ADDD30B-675E-4BD8-B4FD-BEB70B4C5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305050"/>
            <a:ext cx="17526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F081A90-A2DB-4270-ABCA-B75A9A556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705100"/>
            <a:ext cx="1409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Фильтры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854D75D-DD35-49A0-A124-D3EBA005F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143250"/>
            <a:ext cx="1409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B7791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B7791F"/>
                </a:solidFill>
                <a:latin typeface="Aptos Display"/>
                <a:ea typeface="Aptos Display"/>
                <a:cs typeface="Aptos Display"/>
              </a:rPr>
              <a:t>3, 2, 1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C54BEC9-B55D-4B67-97C1-1BA017C13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562350"/>
            <a:ext cx="14097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relay ids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3A4F766-F324-4D5F-BC6D-365A93F6D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05350"/>
            <a:ext cx="9906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5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2A1A60D-33DA-487E-B84F-974CB39C1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05350"/>
            <a:ext cx="476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75FFD32-A9AF-4FD7-9F16-6F747A9D0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00600"/>
            <a:ext cx="9582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Зачем это важно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168A967-C04A-45BC-B408-DC39D8A8C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29200"/>
            <a:ext cx="9582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690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Группы позволяют оператору включать технологические контуры целиком, а правилам и профилям - управлять оборудованием без ручного перечисления каждого канала.</a:t>
            </a:r>
          </a:p>
        </p:txBody>
      </p:sp>
    </p:spTree>
    <p:extLst>
      <p:ext uri="{BB962C8B-B14F-4D97-AF65-F5344CB8AC3E}">
        <p14:creationId xmlns:p14="http://schemas.microsoft.com/office/powerpoint/2010/main" val="66190167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1D2EC4D-0E5D-4910-9643-A7A939112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4E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E4ACBB-6A2F-4ECB-B610-AFD9CB840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EEB27F-ACB2-4BD5-A1D9-77F164756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F7A4D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F7A4D"/>
                </a:solidFill>
                <a:latin typeface="Aptos"/>
                <a:ea typeface="Aptos"/>
                <a:cs typeface="Aptos"/>
              </a:rPr>
              <a:t>WEB-ПАНЕЛЬ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CD1785-F6F4-4D38-B83A-05BACF6B9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04850"/>
            <a:ext cx="8001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6201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16201D"/>
                </a:solidFill>
                <a:latin typeface="Aptos Display"/>
                <a:ea typeface="Aptos Display"/>
                <a:cs typeface="Aptos Display"/>
              </a:rPr>
              <a:t>Dashboard объединяет наблюдение, ручное управление, правила, профили, статистику и экспорт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B53DBA-EB61-41AA-AA4A-A9A7F0896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38900"/>
            <a:ext cx="4762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ВКР | интеллектуальная система микроклимата теплицы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73F190-1F41-4F79-A0D5-6B308265C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81750"/>
            <a:ext cx="514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8CB39B-357F-4453-A041-24A316816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26670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0405CC-BAB7-4BE6-BA99-8284D36BA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47625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264E99-8FB6-4F69-82F2-6F333468D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3625"/>
            <a:ext cx="23431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Главная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B27B67-D7B2-4116-9FFA-DF2A3281F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28900"/>
            <a:ext cx="2343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состояния реле и датчиков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CE79F0-2D99-4BF8-8323-66774A475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190750"/>
            <a:ext cx="26670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8C8333-4BD9-418D-B9F1-653A5DB2C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190750"/>
            <a:ext cx="47625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DFC705-3E13-4F56-A0ED-2ADA16BF8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333625"/>
            <a:ext cx="23431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Rules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F44B02-2CB9-418C-BF84-FF5AF8822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628900"/>
            <a:ext cx="2343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порог, гистерезис, расписание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4F7DC1-09FF-43FF-8296-04567D697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190750"/>
            <a:ext cx="26670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379428-6449-4045-923D-08AD66C62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190750"/>
            <a:ext cx="47625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C8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EB6546-FD46-44A6-A0ED-0186A0F17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333625"/>
            <a:ext cx="23431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6AB819-5D59-442F-992C-E65A1C4D5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628900"/>
            <a:ext cx="2343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pre -&gt; delay -&gt; main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725D7ED-44ED-40D6-88F8-65341549B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05200"/>
            <a:ext cx="26670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786033-0A79-407A-AF2F-7E6F3CF6D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05200"/>
            <a:ext cx="47625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FB00BB7-4D57-421E-B266-4913322FB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48075"/>
            <a:ext cx="23431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Stats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769B3A8-F7F3-49CC-8B70-F11B5B2D3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43350"/>
            <a:ext cx="2343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история и графики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C095CF2-8E5F-4853-A80C-4C7FD7FA4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505200"/>
            <a:ext cx="26670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0A542B6-5DAB-4864-8CAD-E99C71573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505200"/>
            <a:ext cx="47625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42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0F23131-5827-4021-BA95-529FFD31D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648075"/>
            <a:ext cx="23431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Export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952DC48-CCEC-4A4C-842C-3DEB664EF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943350"/>
            <a:ext cx="2343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CSV для анализа и ML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37C0DAE-0930-4A19-A806-7A4DD1602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05400"/>
            <a:ext cx="92583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A"/>
          </a:solidFill>
          <a:ln xmlns:a="http://schemas.openxmlformats.org/drawingml/2006/main" w="9525">
            <a:solidFill>
              <a:srgbClr val="D9D2C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95B19EF-0D4A-4277-9F6C-B79B4BDCA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05400"/>
            <a:ext cx="476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1383354-7907-47F6-9D0E-ECDB4D4D0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00650"/>
            <a:ext cx="8934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Слот доказательства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B9BD55C-8E95-4FBE-B3A6-58AF2E5A6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29250"/>
            <a:ext cx="89344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690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Перед финальной защитой сюда вставить реальные скриншоты /, /rules, /profiles и /stats.</a:t>
            </a:r>
          </a:p>
        </p:txBody>
      </p:sp>
    </p:spTree>
    <p:extLst>
      <p:ext uri="{BB962C8B-B14F-4D97-AF65-F5344CB8AC3E}">
        <p14:creationId xmlns:p14="http://schemas.microsoft.com/office/powerpoint/2010/main" val="131072854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1A68AA8-53DE-49AA-A8AC-FCB8D4B87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4E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744F55-1A46-4CF7-A2C8-972885FB7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870DA9-9688-4DCC-81CB-E1EB2D707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F7A4D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F7A4D"/>
                </a:solidFill>
                <a:latin typeface="Aptos"/>
                <a:ea typeface="Aptos"/>
                <a:cs typeface="Aptos"/>
              </a:rPr>
              <a:t>ПРАВИЛА И ПРОФИЛИ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EE52D2-69AE-4AC4-89A7-4EE5174D8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04850"/>
            <a:ext cx="8001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6201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16201D"/>
                </a:solidFill>
                <a:latin typeface="Aptos Display"/>
                <a:ea typeface="Aptos Display"/>
                <a:cs typeface="Aptos Display"/>
              </a:rPr>
              <a:t>Автоматизация сделана консервативно: пороги и гистерезис ниже ML-слоя защищают оборудование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1123F4-6560-4472-96BA-291093EBA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38900"/>
            <a:ext cx="4762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ВКР | интеллектуальная система микроклимата теплицы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2E323C-6D65-4F84-A7EE-755A2A718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81750"/>
            <a:ext cx="514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2D98B7-71C4-4DB5-B920-B6B0D2993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05050"/>
            <a:ext cx="2381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58758D-90F7-4412-9FEB-1F5BC4966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05050"/>
            <a:ext cx="47625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E48ED3-A1D2-4969-BDC0-30F7521E5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47925"/>
            <a:ext cx="2057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1. Измерение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3CA878-C518-4DA9-AD13-16C0FB650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43200"/>
            <a:ext cx="2057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device + field</a:t>
            </a:r>
          </a:p>
          <a:p xmlns:a="http://schemas.openxmlformats.org/drawingml/2006/main">
            <a:pPr algn="l">
              <a:defRPr sz="735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температура, влажность или CO2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9F8CFE-437F-490D-8774-FCF030817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305050"/>
            <a:ext cx="2381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6EE915-7EDE-4C21-B759-2706DB9C7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305050"/>
            <a:ext cx="47625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AD022D-94E7-4F56-BDAE-9D1C211AD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447925"/>
            <a:ext cx="2057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2. Условие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503D72-291A-473D-BA1F-0CFDB1696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743200"/>
            <a:ext cx="2057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operator + value</a:t>
            </a:r>
          </a:p>
          <a:p xmlns:a="http://schemas.openxmlformats.org/drawingml/2006/main">
            <a:pPr algn="l">
              <a:defRPr sz="735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с учетом hysteresis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84867D-C8E7-4D98-9CFD-CA3CD5BBC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305050"/>
            <a:ext cx="2381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F2D9E0-5BFC-49C9-9161-B883B5B56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305050"/>
            <a:ext cx="47625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C8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3F61A1-2B28-4BF0-AEB4-724F562ED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447925"/>
            <a:ext cx="2057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3. Расписание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94195C-28EF-4AE4-B73F-7DD57BD23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743200"/>
            <a:ext cx="2057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days + start/end</a:t>
            </a:r>
          </a:p>
          <a:p xmlns:a="http://schemas.openxmlformats.org/drawingml/2006/main">
            <a:pPr algn="l">
              <a:defRPr sz="735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ограничение времени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83D5ED-F292-45F2-B589-281C9200B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305050"/>
            <a:ext cx="18097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EAA51C7-E010-4310-8036-EBD589516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305050"/>
            <a:ext cx="47625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326520B-A474-4EA3-B590-36E248B01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447925"/>
            <a:ext cx="1485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4. Действие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6F56C36-F416-45A5-B222-B6DB0603D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743200"/>
            <a:ext cx="14859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relay/group</a:t>
            </a:r>
          </a:p>
          <a:p xmlns:a="http://schemas.openxmlformats.org/drawingml/2006/main">
            <a:pPr algn="l">
              <a:defRPr sz="735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или profile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03B3035-EAD3-4907-B555-AFF06F6D6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857500"/>
            <a:ext cx="552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1FDC5E-2526-4665-A227-84C0F0AF9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809875"/>
            <a:ext cx="95250" cy="1143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C1F7136-2801-4ECD-8DAD-8608B0561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857500"/>
            <a:ext cx="552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E1432BC-16E4-4C35-B577-A61E5252C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2809875"/>
            <a:ext cx="95250" cy="1143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C5029FD-285F-4493-8DEE-A0B6944AD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857500"/>
            <a:ext cx="552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288D721-7F37-4476-B1A6-E919961CC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2809875"/>
            <a:ext cx="95250" cy="1143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4C3A665-37B7-473C-8103-7252B4D25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381500"/>
            <a:ext cx="7143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A2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2318D81-2FC4-46B4-8686-DDC12D028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543425"/>
            <a:ext cx="6419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275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profile: pre -&gt; delay -&gt; main -&gt; reverse/off</a:t>
            </a:r>
          </a:p>
        </p:txBody>
      </p:sp>
    </p:spTree>
    <p:extLst>
      <p:ext uri="{BB962C8B-B14F-4D97-AF65-F5344CB8AC3E}">
        <p14:creationId xmlns:p14="http://schemas.microsoft.com/office/powerpoint/2010/main" val="89480082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62E0192-8571-40E2-93A8-C25A5BD91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4E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4F8DA8-D95B-4642-9460-614549B5B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B1B9C4-9E5F-4695-AE1B-14CB1C2E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F7A4D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F7A4D"/>
                </a:solidFill>
                <a:latin typeface="Aptos"/>
                <a:ea typeface="Aptos"/>
                <a:cs typeface="Aptos"/>
              </a:rPr>
              <a:t>ЖУРНАЛИРОВАНИЕ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C99D2B-E38F-4DB4-8371-262969446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04850"/>
            <a:ext cx="8001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6201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16201D"/>
                </a:solidFill>
                <a:latin typeface="Aptos Display"/>
                <a:ea typeface="Aptos Display"/>
                <a:cs typeface="Aptos Display"/>
              </a:rPr>
              <a:t>История превращает систему управления в источник проверяемых данных для анализа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A47FB6-3C53-4CC1-AE6A-D3E734BBF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38900"/>
            <a:ext cx="4762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ВКР | интеллектуальная система микроклимата теплицы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201402-A0D4-43A3-B71B-B6FEA24C0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81750"/>
            <a:ext cx="514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EBD2A6-577D-471B-9A9F-ACBF4A271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05050"/>
            <a:ext cx="41910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9DC55D-EC84-432D-AB1E-0C9E28E37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05050"/>
            <a:ext cx="4762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346399-F9CB-49BD-87F8-82E294C43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447925"/>
            <a:ext cx="38671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sensor_log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43F8F9-EB5A-4CCD-8551-D37A8807E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743200"/>
            <a:ext cx="38671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id</a:t>
            </a:r>
          </a:p>
          <a:p xmlns:a="http://schemas.openxmlformats.org/drawingml/2006/main">
            <a:pPr algn="l">
              <a:defRPr sz="735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 ts</a:t>
            </a:r>
          </a:p>
          <a:p xmlns:a="http://schemas.openxmlformats.org/drawingml/2006/main">
            <a:pPr algn="l">
              <a:defRPr sz="735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 device</a:t>
            </a:r>
          </a:p>
          <a:p xmlns:a="http://schemas.openxmlformats.org/drawingml/2006/main">
            <a:pPr algn="l">
              <a:defRPr sz="735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 temperature</a:t>
            </a:r>
          </a:p>
          <a:p xmlns:a="http://schemas.openxmlformats.org/drawingml/2006/main">
            <a:pPr algn="l">
              <a:defRPr sz="735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 humidity</a:t>
            </a:r>
          </a:p>
          <a:p xmlns:a="http://schemas.openxmlformats.org/drawingml/2006/main">
            <a:pPr algn="l">
              <a:defRPr sz="735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 co2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102C09-DACB-4A3E-9923-9C66FFF03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05050"/>
            <a:ext cx="34290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BDFC8F-01D9-415B-AF03-9E63F4C21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05050"/>
            <a:ext cx="4762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C8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B5FC15-7010-4479-BD6E-ADB7A5404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447925"/>
            <a:ext cx="31051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relay_log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424FC2-3D4A-4E17-B8AA-3D78C95FE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743200"/>
            <a:ext cx="31051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id</a:t>
            </a:r>
          </a:p>
          <a:p xmlns:a="http://schemas.openxmlformats.org/drawingml/2006/main">
            <a:pPr algn="l">
              <a:defRPr sz="735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 ts</a:t>
            </a:r>
          </a:p>
          <a:p xmlns:a="http://schemas.openxmlformats.org/drawingml/2006/main">
            <a:pPr algn="l">
              <a:defRPr sz="735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 relay_id</a:t>
            </a:r>
          </a:p>
          <a:p xmlns:a="http://schemas.openxmlformats.org/drawingml/2006/main">
            <a:pPr algn="l">
              <a:defRPr sz="735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 state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DC8276-F1AE-4E04-BBA4-F65A902C9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143250"/>
            <a:ext cx="1143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1C298A-397D-4C57-B8BC-9FE8F2F51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3095625"/>
            <a:ext cx="95250" cy="1143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74C42D-905C-4F1B-A70A-B1297774A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762500"/>
            <a:ext cx="7810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E75CBA-E5DF-4A2B-AD8A-234522A7F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762500"/>
            <a:ext cx="47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3B0B6B-EE79-4137-8B55-2F0289E14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857750"/>
            <a:ext cx="7486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ML-ready смысл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34BE5A9-B4B8-4FB3-BE07-3C5F98317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086350"/>
            <a:ext cx="7486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690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После запуска оборудования эти таблицы дают лаговые признаки, состояния исполнительных устройств, целевые переменные и проверяемые CSV-выгрузки.</a:t>
            </a:r>
          </a:p>
        </p:txBody>
      </p:sp>
    </p:spTree>
    <p:extLst>
      <p:ext uri="{BB962C8B-B14F-4D97-AF65-F5344CB8AC3E}">
        <p14:creationId xmlns:p14="http://schemas.microsoft.com/office/powerpoint/2010/main" val="129594148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9F80B29-6164-49D1-9F9D-A5EC0A449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4E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60DA70-64D9-4146-8EC9-863826BD5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DD5A7C-9E2B-4F56-A27D-7BFCD28E7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F7A4D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F7A4D"/>
                </a:solidFill>
                <a:latin typeface="Aptos"/>
                <a:ea typeface="Aptos"/>
                <a:cs typeface="Aptos"/>
              </a:rPr>
              <a:t>ML-СЛОЙ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3AF3C6-713D-4230-8EC8-EAE8D7F30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04850"/>
            <a:ext cx="8001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6201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16201D"/>
                </a:solidFill>
                <a:latin typeface="Aptos Display"/>
                <a:ea typeface="Aptos Display"/>
                <a:cs typeface="Aptos Display"/>
              </a:rPr>
              <a:t>Машинное обучение ставится поверх надежного контура, а не вместо него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36DE50-1A56-4316-B264-9109F185E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38900"/>
            <a:ext cx="4762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ВКР | интеллектуальная система микроклимата теплицы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FB85FF-3D8D-4A7B-910F-C3E4DCA36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81750"/>
            <a:ext cx="514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D4CBB3-D525-4174-87BF-C883D3567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00300"/>
            <a:ext cx="17526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F59F4C-E821-4A78-8F96-C5F8AFA16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00300"/>
            <a:ext cx="476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430C12-7396-4914-A304-4DEC8BA7A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43175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История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0E455A-B7A4-4BBC-81D5-FE6778F8C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38450"/>
            <a:ext cx="1428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sensor_log + relay_log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55F325-B110-4EFA-BB06-FD427E949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009900"/>
            <a:ext cx="457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BDE03F-2D21-407B-891F-C7B38A152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2962275"/>
            <a:ext cx="95250" cy="1143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EADC99-6A19-41B7-A05E-13E0FC6E3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400300"/>
            <a:ext cx="17526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EE04F5-658B-4492-8A1B-8E3D56FBB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400300"/>
            <a:ext cx="476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5669C0-3536-40BC-BB83-1DF7184AF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543175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Очистка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A54026-3182-4BBD-B595-1362AB8B3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838450"/>
            <a:ext cx="1428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пропуски, выбросы, ресемплинг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46EFF9-6D7A-471A-BE16-84D6E5F59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09900"/>
            <a:ext cx="457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9096BA2-424A-4521-B49E-586206F7F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962275"/>
            <a:ext cx="95250" cy="1143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E5D52C-CFC0-4CBC-96B9-FC1DC91BB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400300"/>
            <a:ext cx="17526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E9E78A5-F0E8-4ED4-B047-197F2A269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400300"/>
            <a:ext cx="476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C8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1FC15D-FCFD-42F8-A206-6F8E23B6A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543175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Признаки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DC654A4-4FF9-47F1-9BFE-C44BDF266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838450"/>
            <a:ext cx="1428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лаги, время суток, состояния реле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01371BF-A38B-4D40-99A6-4B0B10C21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009900"/>
            <a:ext cx="457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EA15B83-12F6-4329-99EB-180153CC0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2962275"/>
            <a:ext cx="95250" cy="1143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56AFE1A-AFF2-4D61-8B0E-1B7EB669C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400300"/>
            <a:ext cx="17526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67F5165-F829-4302-9B49-FBE23164A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400300"/>
            <a:ext cx="476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77E81E7-04D3-452F-9261-99D3E2FB2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543175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Baseline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E783178-EBC4-40F2-BF5D-4DD4A9F01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838450"/>
            <a:ext cx="1428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naive, regression, RF/GBM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DB5ABB9-C8EF-486B-B7F6-6CB2BB297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009900"/>
            <a:ext cx="457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4E49BFE-CFB5-4F67-B97C-9D54DBFB1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2962275"/>
            <a:ext cx="95250" cy="1143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7A8DECB-C800-47A7-9985-6A3CAD465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400300"/>
            <a:ext cx="17526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5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E2F79D8-E2B3-4472-B3AE-0343E06D6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400300"/>
            <a:ext cx="476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42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C4E4773-8895-4160-B698-AE84342C2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543175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Прогноз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D274265-EEB0-460F-89CF-297B824AE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838450"/>
            <a:ext cx="1428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t/h/co2 и реакция среды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4B6F17F-6E7A-4087-8F75-54CA0ED99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552950"/>
            <a:ext cx="9334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A"/>
          </a:solidFill>
          <a:ln xmlns:a="http://schemas.openxmlformats.org/drawingml/2006/main" w="9525">
            <a:solidFill>
              <a:srgbClr val="D9D2C5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E9D9605-3E5E-4AA3-B9EF-0E517DEEA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552950"/>
            <a:ext cx="4762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3E1F7F9-D49B-4CA7-BDC9-790E0DC73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648200"/>
            <a:ext cx="9010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Защитная формулировка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0988CEC-8F64-4B9E-82D7-BC5383E82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9010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690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Если реальные временные ряды еще не накоплены, ML-раздел защищается как подготовленный экспериментальный контур, а не как завершенная модель с метриками.</a:t>
            </a:r>
          </a:p>
        </p:txBody>
      </p:sp>
    </p:spTree>
    <p:extLst>
      <p:ext uri="{BB962C8B-B14F-4D97-AF65-F5344CB8AC3E}">
        <p14:creationId xmlns:p14="http://schemas.microsoft.com/office/powerpoint/2010/main" val="94810227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A50CE2E-82BA-4EE9-8B8C-90C106999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4E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41E07E-C58C-49A9-A22E-ECB8B8AB9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F98EA0-3B08-4215-8433-2747AFB2E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F7A4D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F7A4D"/>
                </a:solidFill>
                <a:latin typeface="Aptos"/>
                <a:ea typeface="Aptos"/>
                <a:cs typeface="Aptos"/>
              </a:rPr>
              <a:t>РЕЗУЛЬТАТЫ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F69097-9151-45F6-A64B-CC8309D61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04850"/>
            <a:ext cx="8001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6201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16201D"/>
                </a:solidFill>
                <a:latin typeface="Aptos Display"/>
                <a:ea typeface="Aptos Display"/>
                <a:cs typeface="Aptos Display"/>
              </a:rPr>
              <a:t>Готов не один модуль, а связанная инженерная платформа для тепличного управления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D08120-0F44-40E6-9D41-FC94C53B0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38900"/>
            <a:ext cx="4762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ВКР | интеллектуальная система микроклимата теплицы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49B44B-54A5-4675-ACB7-60BD35F81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81750"/>
            <a:ext cx="514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AA5EC3-BB56-4169-AE72-414B4C95F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66950"/>
            <a:ext cx="1238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CD1998-8268-49BE-825E-F04E7D832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47950"/>
            <a:ext cx="150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66706B"/>
                </a:solidFill>
                <a:latin typeface="Aptos"/>
                <a:ea typeface="Aptos"/>
                <a:cs typeface="Aptos"/>
              </a:rPr>
              <a:t>сенсорные прошивки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EB5D6F-9696-45FB-9D99-CC9C01447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266950"/>
            <a:ext cx="1238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F7A4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F7A4D"/>
                </a:solidFill>
                <a:latin typeface="Aptos Display"/>
                <a:ea typeface="Aptos Display"/>
                <a:cs typeface="Aptos Display"/>
              </a:rPr>
              <a:t>15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D789EC-7ACF-49E7-8C77-4DFB6077D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647950"/>
            <a:ext cx="150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66706B"/>
                </a:solidFill>
                <a:latin typeface="Aptos"/>
                <a:ea typeface="Aptos"/>
                <a:cs typeface="Aptos"/>
              </a:rPr>
              <a:t>реле на Arduino Mega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3A2551-3FAA-4AC4-8824-496E2AD8C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266950"/>
            <a:ext cx="1238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15C86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315C86"/>
                </a:solidFill>
                <a:latin typeface="Aptos Display"/>
                <a:ea typeface="Aptos Display"/>
                <a:cs typeface="Aptos Display"/>
              </a:rPr>
              <a:t>6+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9D6895-6D91-47F7-97FB-E1DC5E0DD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647950"/>
            <a:ext cx="150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66706B"/>
                </a:solidFill>
                <a:latin typeface="Aptos"/>
                <a:ea typeface="Aptos"/>
                <a:cs typeface="Aptos"/>
              </a:rPr>
              <a:t>dashboard-разделов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FA2CE8-97F8-405C-A2D1-A1BEAFFF0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266950"/>
            <a:ext cx="1238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B7791F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B7791F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627A8D-2B68-4F57-83C2-69A4ADB47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47950"/>
            <a:ext cx="150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66706B"/>
                </a:solidFill>
                <a:latin typeface="Aptos"/>
                <a:ea typeface="Aptos"/>
                <a:cs typeface="Aptos"/>
              </a:rPr>
              <a:t>таблицы истории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97D020-E55E-491C-8ECC-2D91EEDA3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266950"/>
            <a:ext cx="1238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B6423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B6423C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9D8232-175A-4134-906E-49CC7E96E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647950"/>
            <a:ext cx="150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66706B"/>
                </a:solidFill>
                <a:latin typeface="Aptos"/>
                <a:ea typeface="Aptos"/>
                <a:cs typeface="Aptos"/>
              </a:rPr>
              <a:t>ML-план и pipeline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026EC9-DEB7-4B41-9BC9-9AD572056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33800"/>
            <a:ext cx="447675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974C11D-C72C-43FC-BD06-5AC9DB9D3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33800"/>
            <a:ext cx="47625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1C3D05-DC5C-4786-BDF9-7DD8F83D2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76675"/>
            <a:ext cx="4152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Кодовая база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856B880-1412-418F-AA13-283753619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71950"/>
            <a:ext cx="41529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Прошивки, docker-compose, Flask dashboard, правила, профили, MQTT-подписки, журналирование и экспорт.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7D5AAA6-8625-43C4-B73F-AE640EB24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733800"/>
            <a:ext cx="447675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3B655E4-0234-4AAE-8723-5380797CD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733800"/>
            <a:ext cx="47625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C8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F8974E-9300-4E81-8ACA-5787004FE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876675"/>
            <a:ext cx="4152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Документация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8F4B221-264A-4122-A3DF-2FD281F31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171950"/>
            <a:ext cx="41529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735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Главы ВКР, приложения, протокол испытаний, traceability matrix, Q&amp;A и материалы для защиты.</a:t>
            </a:r>
          </a:p>
        </p:txBody>
      </p:sp>
    </p:spTree>
    <p:extLst>
      <p:ext uri="{BB962C8B-B14F-4D97-AF65-F5344CB8AC3E}">
        <p14:creationId xmlns:p14="http://schemas.microsoft.com/office/powerpoint/2010/main" val="1031124625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8D69A59-2956-43C3-A7B2-B8E988A0C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4E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6BADE4-0220-47C5-9D04-C835EE6FF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820580-93F9-4F62-84B1-2BF9B0742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F7A4D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F7A4D"/>
                </a:solidFill>
                <a:latin typeface="Aptos"/>
                <a:ea typeface="Aptos"/>
                <a:cs typeface="Aptos"/>
              </a:rPr>
              <a:t>ОГРАНИЧЕНИЯ И СЛЕДУЮЩИЙ ШАГ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F39390-B75E-475D-8FC0-889C75BC0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04850"/>
            <a:ext cx="8001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6201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16201D"/>
                </a:solidFill>
                <a:latin typeface="Aptos Display"/>
                <a:ea typeface="Aptos Display"/>
                <a:cs typeface="Aptos Display"/>
              </a:rPr>
              <a:t>Оставшиеся риски связаны с фактической доказательной базой, а не с отсутствием архитектуры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E94AED-37C3-4D05-8764-B8EEA3645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38900"/>
            <a:ext cx="4762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ВКР | интеллектуальная система микроклимата теплицы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70C07D-49EB-473A-8329-75C0EF2AB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81750"/>
            <a:ext cx="514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DE3A4B-DEAA-4938-AA04-9D266EF8D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71700"/>
            <a:ext cx="2724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EB0621-EC9F-4E82-88B2-EE85388AC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71700"/>
            <a:ext cx="476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813729-A46B-4243-ABD0-130FBC503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66950"/>
            <a:ext cx="2400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Скриншоты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F9991E-7A74-4D12-8968-3274FA1F0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95550"/>
            <a:ext cx="2400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690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dashboard: /, /rules, /profiles, /stats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301B03-192F-438B-8F51-F23188A36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171700"/>
            <a:ext cx="2724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3234C4-F147-48C6-9FA2-6B7741FA3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171700"/>
            <a:ext cx="476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4C51BB-B1A7-4EEE-9A5B-5175B2D44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266950"/>
            <a:ext cx="2400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MQTT-логи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AA76D9-4CAB-4980-9CCC-41A8742EE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495550"/>
            <a:ext cx="2400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690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telemetry + relay state + status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D3C04C-4A6E-44EC-8A58-C3A1AFD61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171700"/>
            <a:ext cx="2724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3C1348-AF11-4859-AB4B-99AB441ED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171700"/>
            <a:ext cx="476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C8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84E463-C635-476D-B442-6BF53EC4C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266950"/>
            <a:ext cx="2400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SQL-строки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F62F75-451F-4E42-89B3-E629F3473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495550"/>
            <a:ext cx="2400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690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sensor_log и relay_log после запуска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83D137-C5D5-4AE5-AE9A-AB1630C0F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90900"/>
            <a:ext cx="2724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21ABD2A-4B6D-4A35-AD65-A7EA000BB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90900"/>
            <a:ext cx="476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E6430A-54B8-4A8D-A99F-3E20B01DD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86150"/>
            <a:ext cx="2400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Схемы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43D2001-A104-4BEA-A541-DCC84C588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14750"/>
            <a:ext cx="2400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690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экспорт Mermaid и щитка в PNG/SVG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E51F7A2-2EF2-495C-A9F9-018BBB314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390900"/>
            <a:ext cx="2724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9DCCFBB-638D-4302-BF46-CAE270791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390900"/>
            <a:ext cx="476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42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5173BAB-539A-4713-8598-B596A4BD5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486150"/>
            <a:ext cx="2400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ML-метрики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4FC2D33-63F1-4C23-A671-BEAB3A35A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714750"/>
            <a:ext cx="2400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0">
                <a:solidFill>
                  <a:srgbClr val="66706B"/>
                </a:solidFill>
                <a:latin typeface="Aptos"/>
                <a:ea typeface="Aptos"/>
                <a:cs typeface="Aptos"/>
              </a:defRPr>
            </a:pPr>
            <a:r>
              <a:rPr sz="690" b="0">
                <a:solidFill>
                  <a:srgbClr val="66706B"/>
                </a:solidFill>
                <a:latin typeface="Aptos"/>
                <a:ea typeface="Aptos"/>
                <a:cs typeface="Aptos"/>
              </a:rPr>
              <a:t>после накопления временных рядов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BAFB5F2-70AE-45C1-B51C-8AD1F3AF0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124450"/>
            <a:ext cx="800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F1FC29B-E7F5-401F-B7F1-76F113103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9720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19050">
            <a:solidFill>
              <a:srgbClr val="1F7A4D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6BF0671-74BA-4C8A-A109-43FD5E678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57775"/>
            <a:ext cx="323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719E3D1-6D8A-48A2-8E45-965F4B3DA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410200"/>
            <a:ext cx="1219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65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765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испытания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CF6E8BC-D515-4A79-9F80-B29483833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9720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F7A4D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CA8E42E-43E9-4EA6-B883-F9A46D073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057775"/>
            <a:ext cx="323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F7A4D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F7A4D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698AE1D-7F1E-41B0-A9E0-DB4328E8A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5410200"/>
            <a:ext cx="1219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65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765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датасет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76F5E0D-8A83-4C13-B012-DF494A91A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9720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F7A4D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6BBA448-6EBA-4C09-B536-94BE7EEEF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057775"/>
            <a:ext cx="323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F7A4D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F7A4D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87B578A-4CFB-48E4-ABAA-E2E8D5A51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5410200"/>
            <a:ext cx="1219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65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765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baseline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6D1CB10-BF0D-4453-B646-2836CD2E6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9720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F7A4D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4C33F46-84F2-4A68-8541-EE9F73F04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057775"/>
            <a:ext cx="323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F7A4D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F7A4D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B7ED6EF-7EBE-4EE2-9424-E3DE4D53F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5410200"/>
            <a:ext cx="1219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65" b="1">
                <a:solidFill>
                  <a:srgbClr val="16201D"/>
                </a:solidFill>
                <a:latin typeface="Aptos"/>
                <a:ea typeface="Aptos"/>
                <a:cs typeface="Aptos"/>
              </a:defRPr>
            </a:pPr>
            <a:r>
              <a:rPr sz="765" b="1">
                <a:solidFill>
                  <a:srgbClr val="16201D"/>
                </a:solidFill>
                <a:latin typeface="Aptos"/>
                <a:ea typeface="Aptos"/>
                <a:cs typeface="Aptos"/>
              </a:rPr>
              <a:t>прогнозное управление</a:t>
            </a:r>
          </a:p>
        </p:txBody>
      </p:sp>
    </p:spTree>
    <p:extLst>
      <p:ext uri="{BB962C8B-B14F-4D97-AF65-F5344CB8AC3E}">
        <p14:creationId xmlns:p14="http://schemas.microsoft.com/office/powerpoint/2010/main" val="174034041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2026-05-26T18:39:20.9390000Z</dcterms:created>
  <dcterms:modified xsi:type="dcterms:W3CDTF">2026-05-26T18:39:20.9390000Z</dcterms:modified>
</coreProperties>
</file>